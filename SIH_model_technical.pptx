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Internal test (n=631)</c:v>
                </c:pt>
              </c:strCache>
            </c:strRef>
          </c:tx>
          <c:spPr>
            <a:solidFill>
              <a:srgbClr val="2D9CDB"/>
            </a:solidFill>
            <a:effectLst/>
          </c:spPr>
          <c:invertIfNegative val="0"/>
          <c:dLbls>
            <c:numFmt formatCode="0.000" sourceLinked="0"/>
            <c:txPr>
              <a:bodyPr/>
              <a:lstStyle/>
              <a:p>
                <a:pPr>
                  <a:defRPr b="0" i="0" strike="noStrike" sz="1050" u="none">
                    <a:solidFill>
                      <a:srgbClr val="141B34"/>
                    </a:solidFill>
                    <a:latin typeface="Arial"/>
                  </a:defRPr>
                </a:pPr>
              </a:p>
            </c:txPr>
            <c:showLegendKey val="0"/>
            <c:showVal val="1"/>
            <c:showCatName val="0"/>
            <c:showSerName val="0"/>
            <c:showPercent val="0"/>
            <c:showBubbleSize val="0"/>
            <c:showLeaderLines val="0"/>
          </c:dLbls>
          <c:cat>
            <c:multiLvlStrRef>
              <c:f>Sheet1!$A$2:$A$5</c:f>
              <c:multiLvlStrCache>
                <c:ptCount val="4"/>
                <c:lvl>
                  <c:pt idx="0">
                    <c:v>Sensitivity</c:v>
                  </c:pt>
                  <c:pt idx="1">
                    <c:v>Specificity</c:v>
                  </c:pt>
                  <c:pt idx="2">
                    <c:v>AUC</c:v>
                  </c:pt>
                  <c:pt idx="3">
                    <c:v>QWK</c:v>
                  </c:pt>
                </c:lvl>
              </c:multiLvlStrCache>
            </c:multiLvlStrRef>
          </c:cat>
          <c:val>
            <c:numRef>
              <c:f>Sheet1!$B$2:$B$5</c:f>
              <c:numCache>
                <c:formatCode>General</c:formatCode>
                <c:ptCount val="4"/>
                <c:pt idx="0">
                  <c:v>0.986</c:v>
                </c:pt>
                <c:pt idx="1">
                  <c:v>0.873</c:v>
                </c:pt>
                <c:pt idx="2">
                  <c:v>0.988</c:v>
                </c:pt>
                <c:pt idx="3">
                  <c:v>0.897</c:v>
                </c:pt>
              </c:numCache>
            </c:numRef>
          </c:val>
        </c:ser>
        <c:ser>
          <c:idx val="1"/>
          <c:order val="1"/>
          <c:tx>
            <c:strRef>
              <c:f>Sheet1!$C$1</c:f>
              <c:strCache>
                <c:ptCount val="1"/>
                <c:pt idx="0">
                  <c:v>Messidor-2 (n=1,744)</c:v>
                </c:pt>
              </c:strCache>
            </c:strRef>
          </c:tx>
          <c:spPr>
            <a:solidFill>
              <a:srgbClr val="E8833A"/>
            </a:solidFill>
            <a:effectLst/>
          </c:spPr>
          <c:invertIfNegative val="0"/>
          <c:dLbls>
            <c:numFmt formatCode="0.000" sourceLinked="0"/>
            <c:txPr>
              <a:bodyPr/>
              <a:lstStyle/>
              <a:p>
                <a:pPr>
                  <a:defRPr b="0" i="0" strike="noStrike" sz="1050" u="none">
                    <a:solidFill>
                      <a:srgbClr val="141B34"/>
                    </a:solidFill>
                    <a:latin typeface="Arial"/>
                  </a:defRPr>
                </a:pPr>
              </a:p>
            </c:txPr>
            <c:showLegendKey val="0"/>
            <c:showVal val="1"/>
            <c:showCatName val="0"/>
            <c:showSerName val="0"/>
            <c:showPercent val="0"/>
            <c:showBubbleSize val="0"/>
            <c:showLeaderLines val="0"/>
          </c:dLbls>
          <c:cat>
            <c:multiLvlStrRef>
              <c:f>Sheet1!$A$2:$A$5</c:f>
              <c:multiLvlStrCache>
                <c:ptCount val="4"/>
                <c:lvl>
                  <c:pt idx="0">
                    <c:v>Sensitivity</c:v>
                  </c:pt>
                  <c:pt idx="1">
                    <c:v>Specificity</c:v>
                  </c:pt>
                  <c:pt idx="2">
                    <c:v>AUC</c:v>
                  </c:pt>
                  <c:pt idx="3">
                    <c:v>QWK</c:v>
                  </c:pt>
                </c:lvl>
              </c:multiLvlStrCache>
            </c:multiLvlStrRef>
          </c:cat>
          <c:val>
            <c:numRef>
              <c:f>Sheet1!$C$2:$C$5</c:f>
              <c:numCache>
                <c:formatCode>General</c:formatCode>
                <c:ptCount val="4"/>
                <c:pt idx="0">
                  <c:v>0.707</c:v>
                </c:pt>
                <c:pt idx="1">
                  <c:v>0.922</c:v>
                </c:pt>
                <c:pt idx="2">
                  <c:v>0.908</c:v>
                </c:pt>
                <c:pt idx="3">
                  <c:v>0.649</c:v>
                </c:pt>
              </c:numCache>
            </c:numRef>
          </c:val>
        </c:ser>
        <c:dLbls>
          <c:numFmt formatCode="0.000" sourceLinked="0"/>
          <c:txPr>
            <a:bodyPr/>
            <a:lstStyle/>
            <a:p>
              <a:pPr>
                <a:defRPr b="0" i="0" strike="noStrike" sz="1050" u="none">
                  <a:solidFill>
                    <a:srgbClr val="141B3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12700" cap="flat">
              <a:solidFill>
                <a:srgbClr val="EDF0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6B728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Deployed model: image-only ordinal CNN, EfficientNet-B0 backbone with a CORN ordinal head. Trained on APTOS 2019 + IDRiD only. Messidor-2 is held out entirely — no training, no threshold selection, no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1-3 are preprocessing, 4-6 build the clinical evidence, 7-9 decide and explain. Every stage records its latency and the whole result is JSON so it can be stored, audited and replayed.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CORN: Shi, Cao &amp; Raschka 2021. The alternative — plain 5-way softmax — has no ordering constraint, so nothing stops P(grade 4) exceeding P(grade 2). Referral would then need an ad-hoc sum over classes rather than a single calibrated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Dice 0.000 at 512px for microaneurysms is not a bug — the lesion is physically gone after downsampling. This is why the pipeline runs two resolutions and records seg_size in the deploy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a threshold on the external set would fit a decision rule to held-out data and void the zero-shot claim. Every fit here uses the validation split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split is subject-disjoint from training. Both problem-statement targets — sensitivity 90%, specificity 85% — are met internally. Externally specificity holds at 0.922 while sensitivity drops, and section 3 of RESULTS.md traces that to the reference standards disagreeing on grade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clinical-feature branch now powers explanation and the auditable rule trail rather than the referral score. Every referral still ships lesion counts, quadrant maps and 4-2-1 reasoning — they are simply not inputs to the number that decides referral.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grade-vs-flag distinction is the single most important operational message: consume the referral decision and the urgency tier, not the printed ICDR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4"/>
        </a:solidFill>
      </p:bgPr>
    </p:bg>
    <p:spTree>
      <p:nvGrpSpPr>
        <p:cNvPr id="1" name=""/>
        <p:cNvGrpSpPr/>
        <p:nvPr/>
      </p:nvGrpSpPr>
      <p:grpSpPr>
        <a:xfrm>
          <a:off x="0" y="0"/>
          <a:ext cx="0" cy="0"/>
          <a:chOff x="0" y="0"/>
          <a:chExt cx="0" cy="0"/>
        </a:xfrm>
      </p:grpSpPr>
      <p:sp>
        <p:nvSpPr>
          <p:cNvPr id="2" name="Text 0"/>
          <p:cNvSpPr txBox="1"/>
          <p:nvPr/>
        </p:nvSpPr>
        <p:spPr>
          <a:xfrm>
            <a:off x="685800" y="1371600"/>
            <a:ext cx="768096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Explainable DR Screening</a:t>
            </a:r>
            <a:endParaRPr lang="en-US" sz="4000" dirty="0"/>
          </a:p>
        </p:txBody>
      </p:sp>
      <p:sp>
        <p:nvSpPr>
          <p:cNvPr id="3" name="Text 1"/>
          <p:cNvSpPr txBox="1"/>
          <p:nvPr/>
        </p:nvSpPr>
        <p:spPr>
          <a:xfrm>
            <a:off x="685800" y="2212848"/>
            <a:ext cx="7680960" cy="457200"/>
          </a:xfrm>
          <a:prstGeom prst="rect">
            <a:avLst/>
          </a:prstGeom>
          <a:noFill/>
          <a:ln/>
        </p:spPr>
        <p:txBody>
          <a:bodyPr wrap="square" lIns="0" tIns="0" rIns="0" bIns="0" rtlCol="0" anchor="ctr"/>
          <a:lstStyle/>
          <a:p>
            <a:pPr indent="0" marL="0">
              <a:buNone/>
            </a:pPr>
            <a:r>
              <a:rPr lang="en-US" sz="1700" dirty="0">
                <a:solidFill>
                  <a:srgbClr val="E8833A"/>
                </a:solidFill>
                <a:latin typeface="Calibri" pitchFamily="34" charset="0"/>
                <a:ea typeface="Calibri" pitchFamily="34" charset="-122"/>
                <a:cs typeface="Calibri" pitchFamily="34" charset="-120"/>
              </a:rPr>
              <a:t>Model architecture, specification and measured performance</a:t>
            </a:r>
            <a:endParaRPr lang="en-US" sz="1700" dirty="0"/>
          </a:p>
        </p:txBody>
      </p:sp>
      <p:sp>
        <p:nvSpPr>
          <p:cNvPr id="4" name="Text 2"/>
          <p:cNvSpPr txBox="1"/>
          <p:nvPr/>
        </p:nvSpPr>
        <p:spPr>
          <a:xfrm>
            <a:off x="685800" y="2743200"/>
            <a:ext cx="7680960" cy="365760"/>
          </a:xfrm>
          <a:prstGeom prst="rect">
            <a:avLst/>
          </a:prstGeom>
          <a:noFill/>
          <a:ln/>
        </p:spPr>
        <p:txBody>
          <a:bodyPr wrap="square" lIns="0" tIns="0" rIns="0" bIns="0" rtlCol="0" anchor="ctr"/>
          <a:lstStyle/>
          <a:p>
            <a:pPr indent="0" marL="0">
              <a:buNone/>
            </a:pPr>
            <a:r>
              <a:rPr lang="en-US" sz="1250" dirty="0">
                <a:solidFill>
                  <a:srgbClr val="9AA5B8"/>
                </a:solidFill>
                <a:latin typeface="Calibri" pitchFamily="34" charset="0"/>
                <a:ea typeface="Calibri" pitchFamily="34" charset="-122"/>
                <a:cs typeface="Calibri" pitchFamily="34" charset="-120"/>
              </a:rPr>
              <a:t>SIH-26038  ·  ICDR 5-grade severity  ·  validated zero-shot on Messidor-2</a:t>
            </a:r>
            <a:endParaRPr lang="en-US" sz="1250" dirty="0"/>
          </a:p>
        </p:txBody>
      </p:sp>
      <p:sp>
        <p:nvSpPr>
          <p:cNvPr id="5" name="Text 3"/>
          <p:cNvSpPr txBox="1"/>
          <p:nvPr/>
        </p:nvSpPr>
        <p:spPr>
          <a:xfrm>
            <a:off x="685800" y="3703320"/>
            <a:ext cx="1920240" cy="548640"/>
          </a:xfrm>
          <a:prstGeom prst="rect">
            <a:avLst/>
          </a:prstGeom>
          <a:noFill/>
          <a:ln/>
        </p:spPr>
        <p:txBody>
          <a:bodyPr wrap="square" lIns="0" tIns="0" rIns="0" bIns="0" rtlCol="0" anchor="ctr"/>
          <a:lstStyle/>
          <a:p>
            <a:pPr indent="0" marL="0">
              <a:buNone/>
            </a:pPr>
            <a:r>
              <a:rPr lang="en-US" sz="2700" b="1" dirty="0">
                <a:solidFill>
                  <a:srgbClr val="E8833A"/>
                </a:solidFill>
                <a:latin typeface="Cambria" pitchFamily="34" charset="0"/>
                <a:ea typeface="Cambria" pitchFamily="34" charset="-122"/>
                <a:cs typeface="Cambria" pitchFamily="34" charset="-120"/>
              </a:rPr>
              <a:t>8.77 M</a:t>
            </a:r>
            <a:endParaRPr lang="en-US" sz="2700" dirty="0"/>
          </a:p>
        </p:txBody>
      </p:sp>
      <p:sp>
        <p:nvSpPr>
          <p:cNvPr id="6" name="Text 4"/>
          <p:cNvSpPr txBox="1"/>
          <p:nvPr/>
        </p:nvSpPr>
        <p:spPr>
          <a:xfrm>
            <a:off x="2697480" y="3730752"/>
            <a:ext cx="27432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total parameters</a:t>
            </a:r>
            <a:endParaRPr lang="en-US" sz="1300" dirty="0"/>
          </a:p>
        </p:txBody>
      </p:sp>
      <p:sp>
        <p:nvSpPr>
          <p:cNvPr id="7" name="Text 5"/>
          <p:cNvSpPr txBox="1"/>
          <p:nvPr/>
        </p:nvSpPr>
        <p:spPr>
          <a:xfrm>
            <a:off x="2697480" y="3995928"/>
            <a:ext cx="5120640" cy="274320"/>
          </a:xfrm>
          <a:prstGeom prst="rect">
            <a:avLst/>
          </a:prstGeom>
          <a:noFill/>
          <a:ln/>
        </p:spPr>
        <p:txBody>
          <a:bodyPr wrap="square" lIns="0" tIns="0" rIns="0" bIns="0" rtlCol="0" anchor="ctr"/>
          <a:lstStyle/>
          <a:p>
            <a:pPr indent="0" marL="0">
              <a:buNone/>
            </a:pPr>
            <a:r>
              <a:rPr lang="en-US" sz="1100" dirty="0">
                <a:solidFill>
                  <a:srgbClr val="9AA5B8"/>
                </a:solidFill>
                <a:latin typeface="Calibri" pitchFamily="34" charset="0"/>
                <a:ea typeface="Calibri" pitchFamily="34" charset="-122"/>
                <a:cs typeface="Calibri" pitchFamily="34" charset="-120"/>
              </a:rPr>
              <a:t>grader 4.34 M + U-Net 4.43 M</a:t>
            </a:r>
            <a:endParaRPr lang="en-US" sz="1100" dirty="0"/>
          </a:p>
        </p:txBody>
      </p:sp>
      <p:sp>
        <p:nvSpPr>
          <p:cNvPr id="8" name="Text 6"/>
          <p:cNvSpPr txBox="1"/>
          <p:nvPr/>
        </p:nvSpPr>
        <p:spPr>
          <a:xfrm>
            <a:off x="685800" y="4599432"/>
            <a:ext cx="1920240" cy="548640"/>
          </a:xfrm>
          <a:prstGeom prst="rect">
            <a:avLst/>
          </a:prstGeom>
          <a:noFill/>
          <a:ln/>
        </p:spPr>
        <p:txBody>
          <a:bodyPr wrap="square" lIns="0" tIns="0" rIns="0" bIns="0" rtlCol="0" anchor="ctr"/>
          <a:lstStyle/>
          <a:p>
            <a:pPr indent="0" marL="0">
              <a:buNone/>
            </a:pPr>
            <a:r>
              <a:rPr lang="en-US" sz="2700" b="1" dirty="0">
                <a:solidFill>
                  <a:srgbClr val="E8833A"/>
                </a:solidFill>
                <a:latin typeface="Cambria" pitchFamily="34" charset="0"/>
                <a:ea typeface="Cambria" pitchFamily="34" charset="-122"/>
                <a:cs typeface="Cambria" pitchFamily="34" charset="-120"/>
              </a:rPr>
              <a:t>2,925</a:t>
            </a:r>
            <a:endParaRPr lang="en-US" sz="2700" dirty="0"/>
          </a:p>
        </p:txBody>
      </p:sp>
      <p:sp>
        <p:nvSpPr>
          <p:cNvPr id="9" name="Text 7"/>
          <p:cNvSpPr txBox="1"/>
          <p:nvPr/>
        </p:nvSpPr>
        <p:spPr>
          <a:xfrm>
            <a:off x="2697480" y="4626864"/>
            <a:ext cx="27432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training images</a:t>
            </a:r>
            <a:endParaRPr lang="en-US" sz="1300" dirty="0"/>
          </a:p>
        </p:txBody>
      </p:sp>
      <p:sp>
        <p:nvSpPr>
          <p:cNvPr id="10" name="Text 8"/>
          <p:cNvSpPr txBox="1"/>
          <p:nvPr/>
        </p:nvSpPr>
        <p:spPr>
          <a:xfrm>
            <a:off x="2697480" y="4892040"/>
            <a:ext cx="5120640" cy="274320"/>
          </a:xfrm>
          <a:prstGeom prst="rect">
            <a:avLst/>
          </a:prstGeom>
          <a:noFill/>
          <a:ln/>
        </p:spPr>
        <p:txBody>
          <a:bodyPr wrap="square" lIns="0" tIns="0" rIns="0" bIns="0" rtlCol="0" anchor="ctr"/>
          <a:lstStyle/>
          <a:p>
            <a:pPr indent="0" marL="0">
              <a:buNone/>
            </a:pPr>
            <a:r>
              <a:rPr lang="en-US" sz="1100" dirty="0">
                <a:solidFill>
                  <a:srgbClr val="9AA5B8"/>
                </a:solidFill>
                <a:latin typeface="Calibri" pitchFamily="34" charset="0"/>
                <a:ea typeface="Calibri" pitchFamily="34" charset="-122"/>
                <a:cs typeface="Calibri" pitchFamily="34" charset="-120"/>
              </a:rPr>
              <a:t>APTOS 2019 + IDRiD</a:t>
            </a:r>
            <a:endParaRPr lang="en-US" sz="1100" dirty="0"/>
          </a:p>
        </p:txBody>
      </p:sp>
      <p:sp>
        <p:nvSpPr>
          <p:cNvPr id="11" name="Text 9"/>
          <p:cNvSpPr txBox="1"/>
          <p:nvPr/>
        </p:nvSpPr>
        <p:spPr>
          <a:xfrm>
            <a:off x="685800" y="5495544"/>
            <a:ext cx="1920240" cy="548640"/>
          </a:xfrm>
          <a:prstGeom prst="rect">
            <a:avLst/>
          </a:prstGeom>
          <a:noFill/>
          <a:ln/>
        </p:spPr>
        <p:txBody>
          <a:bodyPr wrap="square" lIns="0" tIns="0" rIns="0" bIns="0" rtlCol="0" anchor="ctr"/>
          <a:lstStyle/>
          <a:p>
            <a:pPr indent="0" marL="0">
              <a:buNone/>
            </a:pPr>
            <a:r>
              <a:rPr lang="en-US" sz="2700" b="1" dirty="0">
                <a:solidFill>
                  <a:srgbClr val="E8833A"/>
                </a:solidFill>
                <a:latin typeface="Cambria" pitchFamily="34" charset="0"/>
                <a:ea typeface="Cambria" pitchFamily="34" charset="-122"/>
                <a:cs typeface="Cambria" pitchFamily="34" charset="-120"/>
              </a:rPr>
              <a:t>1,744</a:t>
            </a:r>
            <a:endParaRPr lang="en-US" sz="2700" dirty="0"/>
          </a:p>
        </p:txBody>
      </p:sp>
      <p:sp>
        <p:nvSpPr>
          <p:cNvPr id="12" name="Text 10"/>
          <p:cNvSpPr txBox="1"/>
          <p:nvPr/>
        </p:nvSpPr>
        <p:spPr>
          <a:xfrm>
            <a:off x="2697480" y="5522976"/>
            <a:ext cx="27432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external test images</a:t>
            </a:r>
            <a:endParaRPr lang="en-US" sz="1300" dirty="0"/>
          </a:p>
        </p:txBody>
      </p:sp>
      <p:sp>
        <p:nvSpPr>
          <p:cNvPr id="13" name="Text 11"/>
          <p:cNvSpPr txBox="1"/>
          <p:nvPr/>
        </p:nvSpPr>
        <p:spPr>
          <a:xfrm>
            <a:off x="2697480" y="5788152"/>
            <a:ext cx="5120640" cy="274320"/>
          </a:xfrm>
          <a:prstGeom prst="rect">
            <a:avLst/>
          </a:prstGeom>
          <a:noFill/>
          <a:ln/>
        </p:spPr>
        <p:txBody>
          <a:bodyPr wrap="square" lIns="0" tIns="0" rIns="0" bIns="0" rtlCol="0" anchor="ctr"/>
          <a:lstStyle/>
          <a:p>
            <a:pPr indent="0" marL="0">
              <a:buNone/>
            </a:pPr>
            <a:r>
              <a:rPr lang="en-US" sz="1100" dirty="0">
                <a:solidFill>
                  <a:srgbClr val="9AA5B8"/>
                </a:solidFill>
                <a:latin typeface="Calibri" pitchFamily="34" charset="0"/>
                <a:ea typeface="Calibri" pitchFamily="34" charset="-122"/>
                <a:cs typeface="Calibri" pitchFamily="34" charset="-120"/>
              </a:rPr>
              <a:t>Messidor-2, nothing fitted on it</a:t>
            </a:r>
            <a:endParaRPr lang="en-US" sz="1100" dirty="0"/>
          </a:p>
        </p:txBody>
      </p:sp>
      <p:sp>
        <p:nvSpPr>
          <p:cNvPr id="14" name="Shape 12"/>
          <p:cNvSpPr/>
          <p:nvPr/>
        </p:nvSpPr>
        <p:spPr>
          <a:xfrm>
            <a:off x="8549640" y="1371600"/>
            <a:ext cx="3017520" cy="4114800"/>
          </a:xfrm>
          <a:prstGeom prst="roundRect">
            <a:avLst>
              <a:gd name="adj" fmla="val 1818"/>
            </a:avLst>
          </a:prstGeom>
          <a:solidFill>
            <a:srgbClr val="1E2749"/>
          </a:solidFill>
          <a:ln/>
        </p:spPr>
      </p:sp>
      <p:sp>
        <p:nvSpPr>
          <p:cNvPr id="15" name="Text 13"/>
          <p:cNvSpPr txBox="1"/>
          <p:nvPr/>
        </p:nvSpPr>
        <p:spPr>
          <a:xfrm>
            <a:off x="8778240" y="1627632"/>
            <a:ext cx="2560320" cy="274320"/>
          </a:xfrm>
          <a:prstGeom prst="rect">
            <a:avLst/>
          </a:prstGeom>
          <a:noFill/>
          <a:ln/>
        </p:spPr>
        <p:txBody>
          <a:bodyPr wrap="square" lIns="0" tIns="0" rIns="0" bIns="0" rtlCol="0" anchor="ctr"/>
          <a:lstStyle/>
          <a:p>
            <a:pPr indent="0" marL="0">
              <a:buNone/>
            </a:pPr>
            <a:r>
              <a:rPr lang="en-US" sz="1050" b="1" spc="100" kern="0" dirty="0">
                <a:solidFill>
                  <a:srgbClr val="E8833A"/>
                </a:solidFill>
                <a:latin typeface="Calibri" pitchFamily="34" charset="0"/>
                <a:ea typeface="Calibri" pitchFamily="34" charset="-122"/>
                <a:cs typeface="Calibri" pitchFamily="34" charset="-120"/>
              </a:rPr>
              <a:t>SIGHT-THREATENING DR</a:t>
            </a:r>
            <a:endParaRPr lang="en-US" sz="1050" dirty="0"/>
          </a:p>
        </p:txBody>
      </p:sp>
      <p:sp>
        <p:nvSpPr>
          <p:cNvPr id="16" name="Text 14"/>
          <p:cNvSpPr txBox="1"/>
          <p:nvPr/>
        </p:nvSpPr>
        <p:spPr>
          <a:xfrm>
            <a:off x="8778240" y="1965960"/>
            <a:ext cx="256032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97.3%</a:t>
            </a:r>
            <a:endParaRPr lang="en-US" sz="4400" dirty="0"/>
          </a:p>
        </p:txBody>
      </p:sp>
      <p:sp>
        <p:nvSpPr>
          <p:cNvPr id="17" name="Text 15"/>
          <p:cNvSpPr txBox="1"/>
          <p:nvPr/>
        </p:nvSpPr>
        <p:spPr>
          <a:xfrm>
            <a:off x="8778240" y="2761488"/>
            <a:ext cx="2560320" cy="566928"/>
          </a:xfrm>
          <a:prstGeom prst="rect">
            <a:avLst/>
          </a:prstGeom>
          <a:noFill/>
          <a:ln/>
        </p:spPr>
        <p:txBody>
          <a:bodyPr wrap="square" lIns="0" tIns="0" rIns="0" bIns="0" rtlCol="0" anchor="ctr"/>
          <a:lstStyle/>
          <a:p>
            <a:pPr indent="0" marL="0">
              <a:lnSpc>
                <a:spcPts val="1600"/>
              </a:lnSpc>
              <a:buNone/>
            </a:pPr>
            <a:r>
              <a:rPr lang="en-US" sz="1200" dirty="0">
                <a:solidFill>
                  <a:srgbClr val="C9D2E3"/>
                </a:solidFill>
                <a:latin typeface="Calibri" pitchFamily="34" charset="0"/>
                <a:ea typeface="Calibri" pitchFamily="34" charset="-122"/>
                <a:cs typeface="Calibri" pitchFamily="34" charset="-120"/>
              </a:rPr>
              <a:t>caught on Messidor-2</a:t>
            </a:r>
            <a:endParaRPr lang="en-US" sz="1200" dirty="0"/>
          </a:p>
          <a:p>
            <a:pPr indent="0" marL="0">
              <a:lnSpc>
                <a:spcPts val="1600"/>
              </a:lnSpc>
              <a:buNone/>
            </a:pPr>
            <a:r>
              <a:rPr lang="en-US" sz="1200" dirty="0">
                <a:solidFill>
                  <a:srgbClr val="C9D2E3"/>
                </a:solidFill>
                <a:latin typeface="Calibri" pitchFamily="34" charset="0"/>
                <a:ea typeface="Calibri" pitchFamily="34" charset="-122"/>
                <a:cs typeface="Calibri" pitchFamily="34" charset="-120"/>
              </a:rPr>
              <a:t>107 of 110 blinding eyes</a:t>
            </a:r>
            <a:endParaRPr lang="en-US" sz="1200" dirty="0"/>
          </a:p>
        </p:txBody>
      </p:sp>
      <p:sp>
        <p:nvSpPr>
          <p:cNvPr id="18" name="Text 16"/>
          <p:cNvSpPr txBox="1"/>
          <p:nvPr/>
        </p:nvSpPr>
        <p:spPr>
          <a:xfrm>
            <a:off x="8778240" y="3611880"/>
            <a:ext cx="2560320" cy="548640"/>
          </a:xfrm>
          <a:prstGeom prst="rect">
            <a:avLst/>
          </a:prstGeom>
          <a:noFill/>
          <a:ln/>
        </p:spPr>
        <p:txBody>
          <a:bodyPr wrap="square" lIns="0" tIns="0" rIns="0" bIns="0" rtlCol="0" anchor="ctr"/>
          <a:lstStyle/>
          <a:p>
            <a:pPr indent="0" marL="0">
              <a:buNone/>
            </a:pPr>
            <a:r>
              <a:rPr lang="en-US" sz="3000" b="1" dirty="0">
                <a:solidFill>
                  <a:srgbClr val="1E9E5A"/>
                </a:solidFill>
                <a:latin typeface="Cambria" pitchFamily="34" charset="0"/>
                <a:ea typeface="Cambria" pitchFamily="34" charset="-122"/>
                <a:cs typeface="Cambria" pitchFamily="34" charset="-120"/>
              </a:rPr>
              <a:t>100%</a:t>
            </a:r>
            <a:endParaRPr lang="en-US" sz="3000" dirty="0"/>
          </a:p>
        </p:txBody>
      </p:sp>
      <p:sp>
        <p:nvSpPr>
          <p:cNvPr id="19" name="Text 17"/>
          <p:cNvSpPr txBox="1"/>
          <p:nvPr/>
        </p:nvSpPr>
        <p:spPr>
          <a:xfrm>
            <a:off x="8778240" y="4187952"/>
            <a:ext cx="2560320" cy="548640"/>
          </a:xfrm>
          <a:prstGeom prst="rect">
            <a:avLst/>
          </a:prstGeom>
          <a:noFill/>
          <a:ln/>
        </p:spPr>
        <p:txBody>
          <a:bodyPr wrap="square" lIns="0" tIns="0" rIns="0" bIns="0" rtlCol="0" anchor="ctr"/>
          <a:lstStyle/>
          <a:p>
            <a:pPr indent="0" marL="0">
              <a:lnSpc>
                <a:spcPts val="1600"/>
              </a:lnSpc>
              <a:buNone/>
            </a:pPr>
            <a:r>
              <a:rPr lang="en-US" sz="1200" dirty="0">
                <a:solidFill>
                  <a:srgbClr val="C9D2E3"/>
                </a:solidFill>
                <a:latin typeface="Calibri" pitchFamily="34" charset="0"/>
                <a:ea typeface="Calibri" pitchFamily="34" charset="-122"/>
                <a:cs typeface="Calibri" pitchFamily="34" charset="-120"/>
              </a:rPr>
              <a:t>on the internal test split</a:t>
            </a:r>
            <a:endParaRPr lang="en-US" sz="1200" dirty="0"/>
          </a:p>
          <a:p>
            <a:pPr indent="0" marL="0">
              <a:lnSpc>
                <a:spcPts val="1600"/>
              </a:lnSpc>
              <a:buNone/>
            </a:pPr>
            <a:r>
              <a:rPr lang="en-US" sz="1200" dirty="0">
                <a:solidFill>
                  <a:srgbClr val="C9D2E3"/>
                </a:solidFill>
                <a:latin typeface="Calibri" pitchFamily="34" charset="0"/>
                <a:ea typeface="Calibri" pitchFamily="34" charset="-122"/>
                <a:cs typeface="Calibri" pitchFamily="34" charset="-120"/>
              </a:rPr>
              <a:t>105 of 105, none missed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Nine stages, every one auditable</a:t>
            </a:r>
            <a:endParaRPr lang="en-US" sz="3200" dirty="0"/>
          </a:p>
        </p:txBody>
      </p:sp>
      <p:sp>
        <p:nvSpPr>
          <p:cNvPr id="3" name="Text 1"/>
          <p:cNvSpPr txBox="1"/>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One entry point returns a complete, JSON-serialisable result with per-stage latency</a:t>
            </a:r>
            <a:endParaRPr lang="en-US" sz="1400" dirty="0"/>
          </a:p>
        </p:txBody>
      </p:sp>
      <p:sp>
        <p:nvSpPr>
          <p:cNvPr id="4" name="Shape 2"/>
          <p:cNvSpPr/>
          <p:nvPr/>
        </p:nvSpPr>
        <p:spPr>
          <a:xfrm>
            <a:off x="548640" y="1627632"/>
            <a:ext cx="3566160" cy="1426464"/>
          </a:xfrm>
          <a:prstGeom prst="roundRect">
            <a:avLst>
              <a:gd name="adj" fmla="val 3205"/>
            </a:avLst>
          </a:prstGeom>
          <a:solidFill>
            <a:srgbClr val="F3F5FA"/>
          </a:solidFill>
          <a:ln/>
        </p:spPr>
      </p:sp>
      <p:sp>
        <p:nvSpPr>
          <p:cNvPr id="5" name="Shape 3"/>
          <p:cNvSpPr/>
          <p:nvPr/>
        </p:nvSpPr>
        <p:spPr>
          <a:xfrm>
            <a:off x="749808" y="1828800"/>
            <a:ext cx="365760" cy="365760"/>
          </a:xfrm>
          <a:prstGeom prst="ellipse">
            <a:avLst/>
          </a:prstGeom>
          <a:solidFill>
            <a:srgbClr val="2D9CDB"/>
          </a:solidFill>
          <a:ln/>
        </p:spPr>
      </p:sp>
      <p:sp>
        <p:nvSpPr>
          <p:cNvPr id="6" name="Text 4"/>
          <p:cNvSpPr txBox="1"/>
          <p:nvPr/>
        </p:nvSpPr>
        <p:spPr>
          <a:xfrm>
            <a:off x="749808" y="1828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25296" y="1828800"/>
            <a:ext cx="2743200" cy="310896"/>
          </a:xfrm>
          <a:prstGeom prst="rect">
            <a:avLst/>
          </a:prstGeom>
          <a:noFill/>
          <a:ln/>
        </p:spPr>
        <p:txBody>
          <a:bodyPr wrap="square" lIns="0" tIns="0" rIns="0" bIns="0" rtlCol="0" anchor="ctr"/>
          <a:lstStyle/>
          <a:p>
            <a:pPr indent="0" marL="0">
              <a:buNone/>
            </a:pPr>
            <a:r>
              <a:rPr lang="en-US" sz="1450" b="1" dirty="0">
                <a:solidFill>
                  <a:srgbClr val="141B34"/>
                </a:solidFill>
                <a:latin typeface="Calibri" pitchFamily="34" charset="0"/>
                <a:ea typeface="Calibri" pitchFamily="34" charset="-122"/>
                <a:cs typeface="Calibri" pitchFamily="34" charset="-120"/>
              </a:rPr>
              <a:t>Geometry</a:t>
            </a:r>
            <a:endParaRPr lang="en-US" sz="1450" dirty="0"/>
          </a:p>
        </p:txBody>
      </p:sp>
      <p:sp>
        <p:nvSpPr>
          <p:cNvPr id="8" name="Text 6"/>
          <p:cNvSpPr txBox="1"/>
          <p:nvPr/>
        </p:nvSpPr>
        <p:spPr>
          <a:xfrm>
            <a:off x="749808" y="2286000"/>
            <a:ext cx="3200400" cy="658368"/>
          </a:xfrm>
          <a:prstGeom prst="rect">
            <a:avLst/>
          </a:prstGeom>
          <a:noFill/>
          <a:ln/>
        </p:spPr>
        <p:txBody>
          <a:bodyPr wrap="square" lIns="0" tIns="0" rIns="0" bIns="0" rtlCol="0" anchor="ctr"/>
          <a:lstStyle/>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FOV detect, tight crop,</a:t>
            </a:r>
            <a:endParaRPr lang="en-US" sz="1150" dirty="0"/>
          </a:p>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square pad, resize</a:t>
            </a:r>
            <a:endParaRPr lang="en-US" sz="1150" dirty="0"/>
          </a:p>
        </p:txBody>
      </p:sp>
      <p:sp>
        <p:nvSpPr>
          <p:cNvPr id="9" name="Shape 7"/>
          <p:cNvSpPr/>
          <p:nvPr/>
        </p:nvSpPr>
        <p:spPr>
          <a:xfrm>
            <a:off x="4352544" y="1627632"/>
            <a:ext cx="3566160" cy="1426464"/>
          </a:xfrm>
          <a:prstGeom prst="roundRect">
            <a:avLst>
              <a:gd name="adj" fmla="val 3205"/>
            </a:avLst>
          </a:prstGeom>
          <a:solidFill>
            <a:srgbClr val="F3F5FA"/>
          </a:solidFill>
          <a:ln/>
        </p:spPr>
      </p:sp>
      <p:sp>
        <p:nvSpPr>
          <p:cNvPr id="10" name="Shape 8"/>
          <p:cNvSpPr/>
          <p:nvPr/>
        </p:nvSpPr>
        <p:spPr>
          <a:xfrm>
            <a:off x="4553712" y="1828800"/>
            <a:ext cx="365760" cy="365760"/>
          </a:xfrm>
          <a:prstGeom prst="ellipse">
            <a:avLst/>
          </a:prstGeom>
          <a:solidFill>
            <a:srgbClr val="2D9CDB"/>
          </a:solidFill>
          <a:ln/>
        </p:spPr>
      </p:sp>
      <p:sp>
        <p:nvSpPr>
          <p:cNvPr id="11" name="Text 9"/>
          <p:cNvSpPr txBox="1"/>
          <p:nvPr/>
        </p:nvSpPr>
        <p:spPr>
          <a:xfrm>
            <a:off x="4553712" y="1828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029200" y="1828800"/>
            <a:ext cx="2743200" cy="310896"/>
          </a:xfrm>
          <a:prstGeom prst="rect">
            <a:avLst/>
          </a:prstGeom>
          <a:noFill/>
          <a:ln/>
        </p:spPr>
        <p:txBody>
          <a:bodyPr wrap="square" lIns="0" tIns="0" rIns="0" bIns="0" rtlCol="0" anchor="ctr"/>
          <a:lstStyle/>
          <a:p>
            <a:pPr indent="0" marL="0">
              <a:buNone/>
            </a:pPr>
            <a:r>
              <a:rPr lang="en-US" sz="1450" b="1" dirty="0">
                <a:solidFill>
                  <a:srgbClr val="141B34"/>
                </a:solidFill>
                <a:latin typeface="Calibri" pitchFamily="34" charset="0"/>
                <a:ea typeface="Calibri" pitchFamily="34" charset="-122"/>
                <a:cs typeface="Calibri" pitchFamily="34" charset="-120"/>
              </a:rPr>
              <a:t>Quality gate</a:t>
            </a:r>
            <a:endParaRPr lang="en-US" sz="1450" dirty="0"/>
          </a:p>
        </p:txBody>
      </p:sp>
      <p:sp>
        <p:nvSpPr>
          <p:cNvPr id="13" name="Text 11"/>
          <p:cNvSpPr txBox="1"/>
          <p:nvPr/>
        </p:nvSpPr>
        <p:spPr>
          <a:xfrm>
            <a:off x="4553712" y="2286000"/>
            <a:ext cx="3200400" cy="658368"/>
          </a:xfrm>
          <a:prstGeom prst="rect">
            <a:avLst/>
          </a:prstGeom>
          <a:noFill/>
          <a:ln/>
        </p:spPr>
        <p:txBody>
          <a:bodyPr wrap="square" lIns="0" tIns="0" rIns="0" bIns="0" rtlCol="0" anchor="ctr"/>
          <a:lstStyle/>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Ungradable images stop here</a:t>
            </a:r>
            <a:endParaRPr lang="en-US" sz="1150" dirty="0"/>
          </a:p>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with recapture advice</a:t>
            </a:r>
            <a:endParaRPr lang="en-US" sz="1150" dirty="0"/>
          </a:p>
        </p:txBody>
      </p:sp>
      <p:sp>
        <p:nvSpPr>
          <p:cNvPr id="14" name="Shape 12"/>
          <p:cNvSpPr/>
          <p:nvPr/>
        </p:nvSpPr>
        <p:spPr>
          <a:xfrm>
            <a:off x="8156448" y="1627632"/>
            <a:ext cx="3566160" cy="1426464"/>
          </a:xfrm>
          <a:prstGeom prst="roundRect">
            <a:avLst>
              <a:gd name="adj" fmla="val 3205"/>
            </a:avLst>
          </a:prstGeom>
          <a:solidFill>
            <a:srgbClr val="F3F5FA"/>
          </a:solidFill>
          <a:ln/>
        </p:spPr>
      </p:sp>
      <p:sp>
        <p:nvSpPr>
          <p:cNvPr id="15" name="Shape 13"/>
          <p:cNvSpPr/>
          <p:nvPr/>
        </p:nvSpPr>
        <p:spPr>
          <a:xfrm>
            <a:off x="8357616" y="1828800"/>
            <a:ext cx="365760" cy="365760"/>
          </a:xfrm>
          <a:prstGeom prst="ellipse">
            <a:avLst/>
          </a:prstGeom>
          <a:solidFill>
            <a:srgbClr val="2D9CDB"/>
          </a:solidFill>
          <a:ln/>
        </p:spPr>
      </p:sp>
      <p:sp>
        <p:nvSpPr>
          <p:cNvPr id="16" name="Text 14"/>
          <p:cNvSpPr txBox="1"/>
          <p:nvPr/>
        </p:nvSpPr>
        <p:spPr>
          <a:xfrm>
            <a:off x="8357616" y="1828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833104" y="1828800"/>
            <a:ext cx="2743200" cy="310896"/>
          </a:xfrm>
          <a:prstGeom prst="rect">
            <a:avLst/>
          </a:prstGeom>
          <a:noFill/>
          <a:ln/>
        </p:spPr>
        <p:txBody>
          <a:bodyPr wrap="square" lIns="0" tIns="0" rIns="0" bIns="0" rtlCol="0" anchor="ctr"/>
          <a:lstStyle/>
          <a:p>
            <a:pPr indent="0" marL="0">
              <a:buNone/>
            </a:pPr>
            <a:r>
              <a:rPr lang="en-US" sz="1450" b="1" dirty="0">
                <a:solidFill>
                  <a:srgbClr val="141B34"/>
                </a:solidFill>
                <a:latin typeface="Calibri" pitchFamily="34" charset="0"/>
                <a:ea typeface="Calibri" pitchFamily="34" charset="-122"/>
                <a:cs typeface="Calibri" pitchFamily="34" charset="-120"/>
              </a:rPr>
              <a:t>Enhancement</a:t>
            </a:r>
            <a:endParaRPr lang="en-US" sz="1450" dirty="0"/>
          </a:p>
        </p:txBody>
      </p:sp>
      <p:sp>
        <p:nvSpPr>
          <p:cNvPr id="18" name="Text 16"/>
          <p:cNvSpPr txBox="1"/>
          <p:nvPr/>
        </p:nvSpPr>
        <p:spPr>
          <a:xfrm>
            <a:off x="8357616" y="2286000"/>
            <a:ext cx="3200400" cy="658368"/>
          </a:xfrm>
          <a:prstGeom prst="rect">
            <a:avLst/>
          </a:prstGeom>
          <a:noFill/>
          <a:ln/>
        </p:spPr>
        <p:txBody>
          <a:bodyPr wrap="square" lIns="0" tIns="0" rIns="0" bIns="0" rtlCol="0" anchor="ctr"/>
          <a:lstStyle/>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Only the corrections the</a:t>
            </a:r>
            <a:endParaRPr lang="en-US" sz="1150" dirty="0"/>
          </a:p>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gate says are needed</a:t>
            </a:r>
            <a:endParaRPr lang="en-US" sz="1150" dirty="0"/>
          </a:p>
        </p:txBody>
      </p:sp>
      <p:sp>
        <p:nvSpPr>
          <p:cNvPr id="19" name="Shape 17"/>
          <p:cNvSpPr/>
          <p:nvPr/>
        </p:nvSpPr>
        <p:spPr>
          <a:xfrm>
            <a:off x="548640" y="3264408"/>
            <a:ext cx="3566160" cy="1426464"/>
          </a:xfrm>
          <a:prstGeom prst="roundRect">
            <a:avLst>
              <a:gd name="adj" fmla="val 3205"/>
            </a:avLst>
          </a:prstGeom>
          <a:solidFill>
            <a:srgbClr val="F3F5FA"/>
          </a:solidFill>
          <a:ln/>
        </p:spPr>
      </p:sp>
      <p:sp>
        <p:nvSpPr>
          <p:cNvPr id="20" name="Shape 18"/>
          <p:cNvSpPr/>
          <p:nvPr/>
        </p:nvSpPr>
        <p:spPr>
          <a:xfrm>
            <a:off x="749808" y="3465576"/>
            <a:ext cx="365760" cy="365760"/>
          </a:xfrm>
          <a:prstGeom prst="ellipse">
            <a:avLst/>
          </a:prstGeom>
          <a:solidFill>
            <a:srgbClr val="E8833A"/>
          </a:solidFill>
          <a:ln/>
        </p:spPr>
      </p:sp>
      <p:sp>
        <p:nvSpPr>
          <p:cNvPr id="21" name="Text 19"/>
          <p:cNvSpPr txBox="1"/>
          <p:nvPr/>
        </p:nvSpPr>
        <p:spPr>
          <a:xfrm>
            <a:off x="749808" y="3465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225296" y="3465576"/>
            <a:ext cx="2743200" cy="310896"/>
          </a:xfrm>
          <a:prstGeom prst="rect">
            <a:avLst/>
          </a:prstGeom>
          <a:noFill/>
          <a:ln/>
        </p:spPr>
        <p:txBody>
          <a:bodyPr wrap="square" lIns="0" tIns="0" rIns="0" bIns="0" rtlCol="0" anchor="ctr"/>
          <a:lstStyle/>
          <a:p>
            <a:pPr indent="0" marL="0">
              <a:buNone/>
            </a:pPr>
            <a:r>
              <a:rPr lang="en-US" sz="1450" b="1" dirty="0">
                <a:solidFill>
                  <a:srgbClr val="141B34"/>
                </a:solidFill>
                <a:latin typeface="Calibri" pitchFamily="34" charset="0"/>
                <a:ea typeface="Calibri" pitchFamily="34" charset="-122"/>
                <a:cs typeface="Calibri" pitchFamily="34" charset="-120"/>
              </a:rPr>
              <a:t>Landmarks</a:t>
            </a:r>
            <a:endParaRPr lang="en-US" sz="1450" dirty="0"/>
          </a:p>
        </p:txBody>
      </p:sp>
      <p:sp>
        <p:nvSpPr>
          <p:cNvPr id="23" name="Text 21"/>
          <p:cNvSpPr txBox="1"/>
          <p:nvPr/>
        </p:nvSpPr>
        <p:spPr>
          <a:xfrm>
            <a:off x="749808" y="3922776"/>
            <a:ext cx="3200400" cy="658368"/>
          </a:xfrm>
          <a:prstGeom prst="rect">
            <a:avLst/>
          </a:prstGeom>
          <a:noFill/>
          <a:ln/>
        </p:spPr>
        <p:txBody>
          <a:bodyPr wrap="square" lIns="0" tIns="0" rIns="0" bIns="0" rtlCol="0" anchor="ctr"/>
          <a:lstStyle/>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Optic disc 0.098 DD,</a:t>
            </a:r>
            <a:endParaRPr lang="en-US" sz="1150" dirty="0"/>
          </a:p>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fovea 0.178 DD median, on IDRiD</a:t>
            </a:r>
            <a:endParaRPr lang="en-US" sz="1150" dirty="0"/>
          </a:p>
        </p:txBody>
      </p:sp>
      <p:sp>
        <p:nvSpPr>
          <p:cNvPr id="24" name="Shape 22"/>
          <p:cNvSpPr/>
          <p:nvPr/>
        </p:nvSpPr>
        <p:spPr>
          <a:xfrm>
            <a:off x="4352544" y="3264408"/>
            <a:ext cx="3566160" cy="1426464"/>
          </a:xfrm>
          <a:prstGeom prst="roundRect">
            <a:avLst>
              <a:gd name="adj" fmla="val 3205"/>
            </a:avLst>
          </a:prstGeom>
          <a:solidFill>
            <a:srgbClr val="F3F5FA"/>
          </a:solidFill>
          <a:ln/>
        </p:spPr>
      </p:sp>
      <p:sp>
        <p:nvSpPr>
          <p:cNvPr id="25" name="Shape 23"/>
          <p:cNvSpPr/>
          <p:nvPr/>
        </p:nvSpPr>
        <p:spPr>
          <a:xfrm>
            <a:off x="4553712" y="3465576"/>
            <a:ext cx="365760" cy="365760"/>
          </a:xfrm>
          <a:prstGeom prst="ellipse">
            <a:avLst/>
          </a:prstGeom>
          <a:solidFill>
            <a:srgbClr val="E8833A"/>
          </a:solidFill>
          <a:ln/>
        </p:spPr>
      </p:sp>
      <p:sp>
        <p:nvSpPr>
          <p:cNvPr id="26" name="Text 24"/>
          <p:cNvSpPr txBox="1"/>
          <p:nvPr/>
        </p:nvSpPr>
        <p:spPr>
          <a:xfrm>
            <a:off x="4553712" y="3465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5029200" y="3465576"/>
            <a:ext cx="2743200" cy="310896"/>
          </a:xfrm>
          <a:prstGeom prst="rect">
            <a:avLst/>
          </a:prstGeom>
          <a:noFill/>
          <a:ln/>
        </p:spPr>
        <p:txBody>
          <a:bodyPr wrap="square" lIns="0" tIns="0" rIns="0" bIns="0" rtlCol="0" anchor="ctr"/>
          <a:lstStyle/>
          <a:p>
            <a:pPr indent="0" marL="0">
              <a:buNone/>
            </a:pPr>
            <a:r>
              <a:rPr lang="en-US" sz="1450" b="1" dirty="0">
                <a:solidFill>
                  <a:srgbClr val="141B34"/>
                </a:solidFill>
                <a:latin typeface="Calibri" pitchFamily="34" charset="0"/>
                <a:ea typeface="Calibri" pitchFamily="34" charset="-122"/>
                <a:cs typeface="Calibri" pitchFamily="34" charset="-120"/>
              </a:rPr>
              <a:t>Segmentation</a:t>
            </a:r>
            <a:endParaRPr lang="en-US" sz="1450" dirty="0"/>
          </a:p>
        </p:txBody>
      </p:sp>
      <p:sp>
        <p:nvSpPr>
          <p:cNvPr id="28" name="Text 26"/>
          <p:cNvSpPr txBox="1"/>
          <p:nvPr/>
        </p:nvSpPr>
        <p:spPr>
          <a:xfrm>
            <a:off x="4553712" y="3922776"/>
            <a:ext cx="3200400" cy="658368"/>
          </a:xfrm>
          <a:prstGeom prst="rect">
            <a:avLst/>
          </a:prstGeom>
          <a:noFill/>
          <a:ln/>
        </p:spPr>
        <p:txBody>
          <a:bodyPr wrap="square" lIns="0" tIns="0" rIns="0" bIns="0" rtlCol="0" anchor="ctr"/>
          <a:lstStyle/>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Attention U-Net at 1024px,</a:t>
            </a:r>
            <a:endParaRPr lang="en-US" sz="1150" dirty="0"/>
          </a:p>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4 lesion classes</a:t>
            </a:r>
            <a:endParaRPr lang="en-US" sz="1150" dirty="0"/>
          </a:p>
        </p:txBody>
      </p:sp>
      <p:sp>
        <p:nvSpPr>
          <p:cNvPr id="29" name="Shape 27"/>
          <p:cNvSpPr/>
          <p:nvPr/>
        </p:nvSpPr>
        <p:spPr>
          <a:xfrm>
            <a:off x="8156448" y="3264408"/>
            <a:ext cx="3566160" cy="1426464"/>
          </a:xfrm>
          <a:prstGeom prst="roundRect">
            <a:avLst>
              <a:gd name="adj" fmla="val 3205"/>
            </a:avLst>
          </a:prstGeom>
          <a:solidFill>
            <a:srgbClr val="F3F5FA"/>
          </a:solidFill>
          <a:ln/>
        </p:spPr>
      </p:sp>
      <p:sp>
        <p:nvSpPr>
          <p:cNvPr id="30" name="Shape 28"/>
          <p:cNvSpPr/>
          <p:nvPr/>
        </p:nvSpPr>
        <p:spPr>
          <a:xfrm>
            <a:off x="8357616" y="3465576"/>
            <a:ext cx="365760" cy="365760"/>
          </a:xfrm>
          <a:prstGeom prst="ellipse">
            <a:avLst/>
          </a:prstGeom>
          <a:solidFill>
            <a:srgbClr val="E8833A"/>
          </a:solidFill>
          <a:ln/>
        </p:spPr>
      </p:sp>
      <p:sp>
        <p:nvSpPr>
          <p:cNvPr id="31" name="Text 29"/>
          <p:cNvSpPr txBox="1"/>
          <p:nvPr/>
        </p:nvSpPr>
        <p:spPr>
          <a:xfrm>
            <a:off x="8357616" y="3465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8833104" y="3465576"/>
            <a:ext cx="2743200" cy="310896"/>
          </a:xfrm>
          <a:prstGeom prst="rect">
            <a:avLst/>
          </a:prstGeom>
          <a:noFill/>
          <a:ln/>
        </p:spPr>
        <p:txBody>
          <a:bodyPr wrap="square" lIns="0" tIns="0" rIns="0" bIns="0" rtlCol="0" anchor="ctr"/>
          <a:lstStyle/>
          <a:p>
            <a:pPr indent="0" marL="0">
              <a:buNone/>
            </a:pPr>
            <a:r>
              <a:rPr lang="en-US" sz="1450" b="1" dirty="0">
                <a:solidFill>
                  <a:srgbClr val="141B34"/>
                </a:solidFill>
                <a:latin typeface="Calibri" pitchFamily="34" charset="0"/>
                <a:ea typeface="Calibri" pitchFamily="34" charset="-122"/>
                <a:cs typeface="Calibri" pitchFamily="34" charset="-120"/>
              </a:rPr>
              <a:t>Clinical features</a:t>
            </a:r>
            <a:endParaRPr lang="en-US" sz="1450" dirty="0"/>
          </a:p>
        </p:txBody>
      </p:sp>
      <p:sp>
        <p:nvSpPr>
          <p:cNvPr id="33" name="Text 31"/>
          <p:cNvSpPr txBox="1"/>
          <p:nvPr/>
        </p:nvSpPr>
        <p:spPr>
          <a:xfrm>
            <a:off x="8357616" y="3922776"/>
            <a:ext cx="3200400" cy="658368"/>
          </a:xfrm>
          <a:prstGeom prst="rect">
            <a:avLst/>
          </a:prstGeom>
          <a:noFill/>
          <a:ln/>
        </p:spPr>
        <p:txBody>
          <a:bodyPr wrap="square" lIns="0" tIns="0" rIns="0" bIns="0" rtlCol="0" anchor="ctr"/>
          <a:lstStyle/>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39-dim vector: counts per</a:t>
            </a:r>
            <a:endParaRPr lang="en-US" sz="1150" dirty="0"/>
          </a:p>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quadrant, distance to fovea</a:t>
            </a:r>
            <a:endParaRPr lang="en-US" sz="1150" dirty="0"/>
          </a:p>
        </p:txBody>
      </p:sp>
      <p:sp>
        <p:nvSpPr>
          <p:cNvPr id="34" name="Shape 32"/>
          <p:cNvSpPr/>
          <p:nvPr/>
        </p:nvSpPr>
        <p:spPr>
          <a:xfrm>
            <a:off x="548640" y="4901184"/>
            <a:ext cx="3566160" cy="1426464"/>
          </a:xfrm>
          <a:prstGeom prst="roundRect">
            <a:avLst>
              <a:gd name="adj" fmla="val 3205"/>
            </a:avLst>
          </a:prstGeom>
          <a:solidFill>
            <a:srgbClr val="F3F5FA"/>
          </a:solidFill>
          <a:ln/>
        </p:spPr>
      </p:sp>
      <p:sp>
        <p:nvSpPr>
          <p:cNvPr id="35" name="Shape 33"/>
          <p:cNvSpPr/>
          <p:nvPr/>
        </p:nvSpPr>
        <p:spPr>
          <a:xfrm>
            <a:off x="749808" y="5102352"/>
            <a:ext cx="365760" cy="365760"/>
          </a:xfrm>
          <a:prstGeom prst="ellipse">
            <a:avLst/>
          </a:prstGeom>
          <a:solidFill>
            <a:srgbClr val="141B34"/>
          </a:solidFill>
          <a:ln/>
        </p:spPr>
      </p:sp>
      <p:sp>
        <p:nvSpPr>
          <p:cNvPr id="36" name="Text 34"/>
          <p:cNvSpPr txBox="1"/>
          <p:nvPr/>
        </p:nvSpPr>
        <p:spPr>
          <a:xfrm>
            <a:off x="749808" y="5102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1225296" y="5102352"/>
            <a:ext cx="2743200" cy="310896"/>
          </a:xfrm>
          <a:prstGeom prst="rect">
            <a:avLst/>
          </a:prstGeom>
          <a:noFill/>
          <a:ln/>
        </p:spPr>
        <p:txBody>
          <a:bodyPr wrap="square" lIns="0" tIns="0" rIns="0" bIns="0" rtlCol="0" anchor="ctr"/>
          <a:lstStyle/>
          <a:p>
            <a:pPr indent="0" marL="0">
              <a:buNone/>
            </a:pPr>
            <a:r>
              <a:rPr lang="en-US" sz="1450" b="1" dirty="0">
                <a:solidFill>
                  <a:srgbClr val="141B34"/>
                </a:solidFill>
                <a:latin typeface="Calibri" pitchFamily="34" charset="0"/>
                <a:ea typeface="Calibri" pitchFamily="34" charset="-122"/>
                <a:cs typeface="Calibri" pitchFamily="34" charset="-120"/>
              </a:rPr>
              <a:t>Grading</a:t>
            </a:r>
            <a:endParaRPr lang="en-US" sz="1450" dirty="0"/>
          </a:p>
        </p:txBody>
      </p:sp>
      <p:sp>
        <p:nvSpPr>
          <p:cNvPr id="38" name="Text 36"/>
          <p:cNvSpPr txBox="1"/>
          <p:nvPr/>
        </p:nvSpPr>
        <p:spPr>
          <a:xfrm>
            <a:off x="749808" y="5559552"/>
            <a:ext cx="3200400" cy="658368"/>
          </a:xfrm>
          <a:prstGeom prst="rect">
            <a:avLst/>
          </a:prstGeom>
          <a:noFill/>
          <a:ln/>
        </p:spPr>
        <p:txBody>
          <a:bodyPr wrap="square" lIns="0" tIns="0" rIns="0" bIns="0" rtlCol="0" anchor="ctr"/>
          <a:lstStyle/>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Ordinal CNN, temperature</a:t>
            </a:r>
            <a:endParaRPr lang="en-US" sz="1150" dirty="0"/>
          </a:p>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 isotonic calibrated</a:t>
            </a:r>
            <a:endParaRPr lang="en-US" sz="1150" dirty="0"/>
          </a:p>
        </p:txBody>
      </p:sp>
      <p:sp>
        <p:nvSpPr>
          <p:cNvPr id="39" name="Shape 37"/>
          <p:cNvSpPr/>
          <p:nvPr/>
        </p:nvSpPr>
        <p:spPr>
          <a:xfrm>
            <a:off x="4352544" y="4901184"/>
            <a:ext cx="3566160" cy="1426464"/>
          </a:xfrm>
          <a:prstGeom prst="roundRect">
            <a:avLst>
              <a:gd name="adj" fmla="val 3205"/>
            </a:avLst>
          </a:prstGeom>
          <a:solidFill>
            <a:srgbClr val="F3F5FA"/>
          </a:solidFill>
          <a:ln/>
        </p:spPr>
      </p:sp>
      <p:sp>
        <p:nvSpPr>
          <p:cNvPr id="40" name="Shape 38"/>
          <p:cNvSpPr/>
          <p:nvPr/>
        </p:nvSpPr>
        <p:spPr>
          <a:xfrm>
            <a:off x="4553712" y="5102352"/>
            <a:ext cx="365760" cy="365760"/>
          </a:xfrm>
          <a:prstGeom prst="ellipse">
            <a:avLst/>
          </a:prstGeom>
          <a:solidFill>
            <a:srgbClr val="141B34"/>
          </a:solidFill>
          <a:ln/>
        </p:spPr>
      </p:sp>
      <p:sp>
        <p:nvSpPr>
          <p:cNvPr id="41" name="Text 39"/>
          <p:cNvSpPr txBox="1"/>
          <p:nvPr/>
        </p:nvSpPr>
        <p:spPr>
          <a:xfrm>
            <a:off x="4553712" y="5102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5029200" y="5102352"/>
            <a:ext cx="2743200" cy="310896"/>
          </a:xfrm>
          <a:prstGeom prst="rect">
            <a:avLst/>
          </a:prstGeom>
          <a:noFill/>
          <a:ln/>
        </p:spPr>
        <p:txBody>
          <a:bodyPr wrap="square" lIns="0" tIns="0" rIns="0" bIns="0" rtlCol="0" anchor="ctr"/>
          <a:lstStyle/>
          <a:p>
            <a:pPr indent="0" marL="0">
              <a:buNone/>
            </a:pPr>
            <a:r>
              <a:rPr lang="en-US" sz="1450" b="1" dirty="0">
                <a:solidFill>
                  <a:srgbClr val="141B34"/>
                </a:solidFill>
                <a:latin typeface="Calibri" pitchFamily="34" charset="0"/>
                <a:ea typeface="Calibri" pitchFamily="34" charset="-122"/>
                <a:cs typeface="Calibri" pitchFamily="34" charset="-120"/>
              </a:rPr>
              <a:t>Decision</a:t>
            </a:r>
            <a:endParaRPr lang="en-US" sz="1450" dirty="0"/>
          </a:p>
        </p:txBody>
      </p:sp>
      <p:sp>
        <p:nvSpPr>
          <p:cNvPr id="43" name="Text 41"/>
          <p:cNvSpPr txBox="1"/>
          <p:nvPr/>
        </p:nvSpPr>
        <p:spPr>
          <a:xfrm>
            <a:off x="4553712" y="5559552"/>
            <a:ext cx="3200400" cy="658368"/>
          </a:xfrm>
          <a:prstGeom prst="rect">
            <a:avLst/>
          </a:prstGeom>
          <a:noFill/>
          <a:ln/>
        </p:spPr>
        <p:txBody>
          <a:bodyPr wrap="square" lIns="0" tIns="0" rIns="0" bIns="0" rtlCol="0" anchor="ctr"/>
          <a:lstStyle/>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Fitted referral and urgency</a:t>
            </a:r>
            <a:endParaRPr lang="en-US" sz="1150" dirty="0"/>
          </a:p>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thresholds, defer band</a:t>
            </a:r>
            <a:endParaRPr lang="en-US" sz="1150" dirty="0"/>
          </a:p>
        </p:txBody>
      </p:sp>
      <p:sp>
        <p:nvSpPr>
          <p:cNvPr id="44" name="Shape 42"/>
          <p:cNvSpPr/>
          <p:nvPr/>
        </p:nvSpPr>
        <p:spPr>
          <a:xfrm>
            <a:off x="8156448" y="4901184"/>
            <a:ext cx="3566160" cy="1426464"/>
          </a:xfrm>
          <a:prstGeom prst="roundRect">
            <a:avLst>
              <a:gd name="adj" fmla="val 3205"/>
            </a:avLst>
          </a:prstGeom>
          <a:solidFill>
            <a:srgbClr val="F3F5FA"/>
          </a:solidFill>
          <a:ln/>
        </p:spPr>
      </p:sp>
      <p:sp>
        <p:nvSpPr>
          <p:cNvPr id="45" name="Shape 43"/>
          <p:cNvSpPr/>
          <p:nvPr/>
        </p:nvSpPr>
        <p:spPr>
          <a:xfrm>
            <a:off x="8357616" y="5102352"/>
            <a:ext cx="365760" cy="365760"/>
          </a:xfrm>
          <a:prstGeom prst="ellipse">
            <a:avLst/>
          </a:prstGeom>
          <a:solidFill>
            <a:srgbClr val="141B34"/>
          </a:solidFill>
          <a:ln/>
        </p:spPr>
      </p:sp>
      <p:sp>
        <p:nvSpPr>
          <p:cNvPr id="46" name="Text 44"/>
          <p:cNvSpPr txBox="1"/>
          <p:nvPr/>
        </p:nvSpPr>
        <p:spPr>
          <a:xfrm>
            <a:off x="8357616" y="5102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7" name="Text 45"/>
          <p:cNvSpPr txBox="1"/>
          <p:nvPr/>
        </p:nvSpPr>
        <p:spPr>
          <a:xfrm>
            <a:off x="8833104" y="5102352"/>
            <a:ext cx="2743200" cy="310896"/>
          </a:xfrm>
          <a:prstGeom prst="rect">
            <a:avLst/>
          </a:prstGeom>
          <a:noFill/>
          <a:ln/>
        </p:spPr>
        <p:txBody>
          <a:bodyPr wrap="square" lIns="0" tIns="0" rIns="0" bIns="0" rtlCol="0" anchor="ctr"/>
          <a:lstStyle/>
          <a:p>
            <a:pPr indent="0" marL="0">
              <a:buNone/>
            </a:pPr>
            <a:r>
              <a:rPr lang="en-US" sz="1450" b="1" dirty="0">
                <a:solidFill>
                  <a:srgbClr val="141B34"/>
                </a:solidFill>
                <a:latin typeface="Calibri" pitchFamily="34" charset="0"/>
                <a:ea typeface="Calibri" pitchFamily="34" charset="-122"/>
                <a:cs typeface="Calibri" pitchFamily="34" charset="-120"/>
              </a:rPr>
              <a:t>Explanation</a:t>
            </a:r>
            <a:endParaRPr lang="en-US" sz="1450" dirty="0"/>
          </a:p>
        </p:txBody>
      </p:sp>
      <p:sp>
        <p:nvSpPr>
          <p:cNvPr id="48" name="Text 46"/>
          <p:cNvSpPr txBox="1"/>
          <p:nvPr/>
        </p:nvSpPr>
        <p:spPr>
          <a:xfrm>
            <a:off x="8357616" y="5559552"/>
            <a:ext cx="3200400" cy="658368"/>
          </a:xfrm>
          <a:prstGeom prst="rect">
            <a:avLst/>
          </a:prstGeom>
          <a:noFill/>
          <a:ln/>
        </p:spPr>
        <p:txBody>
          <a:bodyPr wrap="square" lIns="0" tIns="0" rIns="0" bIns="0" rtlCol="0" anchor="ctr"/>
          <a:lstStyle/>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Grad-CAM++ over referable</a:t>
            </a:r>
            <a:endParaRPr lang="en-US" sz="1150" dirty="0"/>
          </a:p>
          <a:p>
            <a:pPr indent="0" marL="0">
              <a:lnSpc>
                <a:spcPts val="1400"/>
              </a:lnSpc>
              <a:buNone/>
            </a:pPr>
            <a:r>
              <a:rPr lang="en-US" sz="1150" dirty="0">
                <a:solidFill>
                  <a:srgbClr val="6B7280"/>
                </a:solidFill>
                <a:latin typeface="Calibri" pitchFamily="34" charset="0"/>
                <a:ea typeface="Calibri" pitchFamily="34" charset="-122"/>
                <a:cs typeface="Calibri" pitchFamily="34" charset="-120"/>
              </a:rPr>
              <a:t>log-odds + lesion evidence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The grader: ordinal, not categorical</a:t>
            </a:r>
            <a:endParaRPr lang="en-US" sz="3200" dirty="0"/>
          </a:p>
        </p:txBody>
      </p:sp>
      <p:sp>
        <p:nvSpPr>
          <p:cNvPr id="3" name="Text 1"/>
          <p:cNvSpPr txBox="1"/>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DR severity is ordered — a 5-way softmax would treat grade 0 vs 4 as no worse than 0 vs 1</a:t>
            </a:r>
            <a:endParaRPr lang="en-US" sz="1400" dirty="0"/>
          </a:p>
        </p:txBody>
      </p:sp>
      <p:sp>
        <p:nvSpPr>
          <p:cNvPr id="4" name="Shape 2"/>
          <p:cNvSpPr/>
          <p:nvPr/>
        </p:nvSpPr>
        <p:spPr>
          <a:xfrm>
            <a:off x="548640" y="1645920"/>
            <a:ext cx="5486400" cy="4480560"/>
          </a:xfrm>
          <a:prstGeom prst="roundRect">
            <a:avLst>
              <a:gd name="adj" fmla="val 1224"/>
            </a:avLst>
          </a:prstGeom>
          <a:solidFill>
            <a:srgbClr val="F3F5FA"/>
          </a:solidFill>
          <a:ln/>
        </p:spPr>
      </p:sp>
      <p:sp>
        <p:nvSpPr>
          <p:cNvPr id="5" name="Text 3"/>
          <p:cNvSpPr txBox="1"/>
          <p:nvPr/>
        </p:nvSpPr>
        <p:spPr>
          <a:xfrm>
            <a:off x="822960" y="1874520"/>
            <a:ext cx="4937760" cy="274320"/>
          </a:xfrm>
          <a:prstGeom prst="rect">
            <a:avLst/>
          </a:prstGeom>
          <a:noFill/>
          <a:ln/>
        </p:spPr>
        <p:txBody>
          <a:bodyPr wrap="square" lIns="0" tIns="0" rIns="0" bIns="0" rtlCol="0" anchor="ctr"/>
          <a:lstStyle/>
          <a:p>
            <a:pPr indent="0" marL="0">
              <a:buNone/>
            </a:pPr>
            <a:r>
              <a:rPr lang="en-US" sz="1050" b="1" spc="100" kern="0" dirty="0">
                <a:solidFill>
                  <a:srgbClr val="E8833A"/>
                </a:solidFill>
                <a:latin typeface="Calibri" pitchFamily="34" charset="0"/>
                <a:ea typeface="Calibri" pitchFamily="34" charset="-122"/>
                <a:cs typeface="Calibri" pitchFamily="34" charset="-120"/>
              </a:rPr>
              <a:t>ARCHITECTURE</a:t>
            </a:r>
            <a:endParaRPr lang="en-US" sz="1050" dirty="0"/>
          </a:p>
        </p:txBody>
      </p:sp>
      <p:sp>
        <p:nvSpPr>
          <p:cNvPr id="6" name="Text 4"/>
          <p:cNvSpPr txBox="1"/>
          <p:nvPr/>
        </p:nvSpPr>
        <p:spPr>
          <a:xfrm>
            <a:off x="822960" y="2240280"/>
            <a:ext cx="1508760" cy="292608"/>
          </a:xfrm>
          <a:prstGeom prst="rect">
            <a:avLst/>
          </a:prstGeom>
          <a:noFill/>
          <a:ln/>
        </p:spPr>
        <p:txBody>
          <a:bodyPr wrap="square" lIns="0" tIns="0" rIns="0" bIns="0" rtlCol="0" anchor="ctr"/>
          <a:lstStyle/>
          <a:p>
            <a:pPr indent="0" marL="0">
              <a:buNone/>
            </a:pPr>
            <a:r>
              <a:rPr lang="en-US" sz="1200" b="1" dirty="0">
                <a:solidFill>
                  <a:srgbClr val="141B34"/>
                </a:solidFill>
                <a:latin typeface="Calibri" pitchFamily="34" charset="0"/>
                <a:ea typeface="Calibri" pitchFamily="34" charset="-122"/>
                <a:cs typeface="Calibri" pitchFamily="34" charset="-120"/>
              </a:rPr>
              <a:t>Backbone</a:t>
            </a:r>
            <a:endParaRPr lang="en-US" sz="1200" dirty="0"/>
          </a:p>
        </p:txBody>
      </p:sp>
      <p:sp>
        <p:nvSpPr>
          <p:cNvPr id="7" name="Text 5"/>
          <p:cNvSpPr txBox="1"/>
          <p:nvPr/>
        </p:nvSpPr>
        <p:spPr>
          <a:xfrm>
            <a:off x="2377440" y="2240280"/>
            <a:ext cx="3474720" cy="29260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EfficientNet-B0 (timm), ImageNet-pretrained</a:t>
            </a:r>
            <a:endParaRPr lang="en-US" sz="1200" dirty="0"/>
          </a:p>
        </p:txBody>
      </p:sp>
      <p:sp>
        <p:nvSpPr>
          <p:cNvPr id="8" name="Text 6"/>
          <p:cNvSpPr txBox="1"/>
          <p:nvPr/>
        </p:nvSpPr>
        <p:spPr>
          <a:xfrm>
            <a:off x="822960" y="2706624"/>
            <a:ext cx="1508760" cy="292608"/>
          </a:xfrm>
          <a:prstGeom prst="rect">
            <a:avLst/>
          </a:prstGeom>
          <a:noFill/>
          <a:ln/>
        </p:spPr>
        <p:txBody>
          <a:bodyPr wrap="square" lIns="0" tIns="0" rIns="0" bIns="0" rtlCol="0" anchor="ctr"/>
          <a:lstStyle/>
          <a:p>
            <a:pPr indent="0" marL="0">
              <a:buNone/>
            </a:pPr>
            <a:r>
              <a:rPr lang="en-US" sz="1200" b="1" dirty="0">
                <a:solidFill>
                  <a:srgbClr val="141B34"/>
                </a:solidFill>
                <a:latin typeface="Calibri" pitchFamily="34" charset="0"/>
                <a:ea typeface="Calibri" pitchFamily="34" charset="-122"/>
                <a:cs typeface="Calibri" pitchFamily="34" charset="-120"/>
              </a:rPr>
              <a:t>Input</a:t>
            </a:r>
            <a:endParaRPr lang="en-US" sz="1200" dirty="0"/>
          </a:p>
        </p:txBody>
      </p:sp>
      <p:sp>
        <p:nvSpPr>
          <p:cNvPr id="9" name="Text 7"/>
          <p:cNvSpPr txBox="1"/>
          <p:nvPr/>
        </p:nvSpPr>
        <p:spPr>
          <a:xfrm>
            <a:off x="2377440" y="2706624"/>
            <a:ext cx="3474720" cy="29260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512 x 512, 3 hybrid planes</a:t>
            </a:r>
            <a:endParaRPr lang="en-US" sz="1200" dirty="0"/>
          </a:p>
        </p:txBody>
      </p:sp>
      <p:sp>
        <p:nvSpPr>
          <p:cNvPr id="10" name="Text 8"/>
          <p:cNvSpPr txBox="1"/>
          <p:nvPr/>
        </p:nvSpPr>
        <p:spPr>
          <a:xfrm>
            <a:off x="822960" y="3172968"/>
            <a:ext cx="1508760" cy="292608"/>
          </a:xfrm>
          <a:prstGeom prst="rect">
            <a:avLst/>
          </a:prstGeom>
          <a:noFill/>
          <a:ln/>
        </p:spPr>
        <p:txBody>
          <a:bodyPr wrap="square" lIns="0" tIns="0" rIns="0" bIns="0" rtlCol="0" anchor="ctr"/>
          <a:lstStyle/>
          <a:p>
            <a:pPr indent="0" marL="0">
              <a:buNone/>
            </a:pPr>
            <a:r>
              <a:rPr lang="en-US" sz="1200" b="1" dirty="0">
                <a:solidFill>
                  <a:srgbClr val="141B34"/>
                </a:solidFill>
                <a:latin typeface="Calibri" pitchFamily="34" charset="0"/>
                <a:ea typeface="Calibri" pitchFamily="34" charset="-122"/>
                <a:cs typeface="Calibri" pitchFamily="34" charset="-120"/>
              </a:rPr>
              <a:t>Planes</a:t>
            </a:r>
            <a:endParaRPr lang="en-US" sz="1200" dirty="0"/>
          </a:p>
        </p:txBody>
      </p:sp>
      <p:sp>
        <p:nvSpPr>
          <p:cNvPr id="11" name="Text 9"/>
          <p:cNvSpPr txBox="1"/>
          <p:nvPr/>
        </p:nvSpPr>
        <p:spPr>
          <a:xfrm>
            <a:off x="2377440" y="3172968"/>
            <a:ext cx="3474720" cy="29260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CLAHE-green · Ben-Graham · L*</a:t>
            </a:r>
            <a:endParaRPr lang="en-US" sz="1200" dirty="0"/>
          </a:p>
        </p:txBody>
      </p:sp>
      <p:sp>
        <p:nvSpPr>
          <p:cNvPr id="12" name="Text 10"/>
          <p:cNvSpPr txBox="1"/>
          <p:nvPr/>
        </p:nvSpPr>
        <p:spPr>
          <a:xfrm>
            <a:off x="822960" y="3639312"/>
            <a:ext cx="1508760" cy="292608"/>
          </a:xfrm>
          <a:prstGeom prst="rect">
            <a:avLst/>
          </a:prstGeom>
          <a:noFill/>
          <a:ln/>
        </p:spPr>
        <p:txBody>
          <a:bodyPr wrap="square" lIns="0" tIns="0" rIns="0" bIns="0" rtlCol="0" anchor="ctr"/>
          <a:lstStyle/>
          <a:p>
            <a:pPr indent="0" marL="0">
              <a:buNone/>
            </a:pPr>
            <a:r>
              <a:rPr lang="en-US" sz="1200" b="1" dirty="0">
                <a:solidFill>
                  <a:srgbClr val="141B34"/>
                </a:solidFill>
                <a:latin typeface="Calibri" pitchFamily="34" charset="0"/>
                <a:ea typeface="Calibri" pitchFamily="34" charset="-122"/>
                <a:cs typeface="Calibri" pitchFamily="34" charset="-120"/>
              </a:rPr>
              <a:t>Embedding</a:t>
            </a:r>
            <a:endParaRPr lang="en-US" sz="1200" dirty="0"/>
          </a:p>
        </p:txBody>
      </p:sp>
      <p:sp>
        <p:nvSpPr>
          <p:cNvPr id="13" name="Text 11"/>
          <p:cNvSpPr txBox="1"/>
          <p:nvPr/>
        </p:nvSpPr>
        <p:spPr>
          <a:xfrm>
            <a:off x="2377440" y="3639312"/>
            <a:ext cx="3474720" cy="29260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1280-dim, global average pooled</a:t>
            </a:r>
            <a:endParaRPr lang="en-US" sz="1200" dirty="0"/>
          </a:p>
        </p:txBody>
      </p:sp>
      <p:sp>
        <p:nvSpPr>
          <p:cNvPr id="14" name="Text 12"/>
          <p:cNvSpPr txBox="1"/>
          <p:nvPr/>
        </p:nvSpPr>
        <p:spPr>
          <a:xfrm>
            <a:off x="822960" y="4105656"/>
            <a:ext cx="1508760" cy="292608"/>
          </a:xfrm>
          <a:prstGeom prst="rect">
            <a:avLst/>
          </a:prstGeom>
          <a:noFill/>
          <a:ln/>
        </p:spPr>
        <p:txBody>
          <a:bodyPr wrap="square" lIns="0" tIns="0" rIns="0" bIns="0" rtlCol="0" anchor="ctr"/>
          <a:lstStyle/>
          <a:p>
            <a:pPr indent="0" marL="0">
              <a:buNone/>
            </a:pPr>
            <a:r>
              <a:rPr lang="en-US" sz="1200" b="1" dirty="0">
                <a:solidFill>
                  <a:srgbClr val="141B34"/>
                </a:solidFill>
                <a:latin typeface="Calibri" pitchFamily="34" charset="0"/>
                <a:ea typeface="Calibri" pitchFamily="34" charset="-122"/>
                <a:cs typeface="Calibri" pitchFamily="34" charset="-120"/>
              </a:rPr>
              <a:t>Head</a:t>
            </a:r>
            <a:endParaRPr lang="en-US" sz="1200" dirty="0"/>
          </a:p>
        </p:txBody>
      </p:sp>
      <p:sp>
        <p:nvSpPr>
          <p:cNvPr id="15" name="Text 13"/>
          <p:cNvSpPr txBox="1"/>
          <p:nvPr/>
        </p:nvSpPr>
        <p:spPr>
          <a:xfrm>
            <a:off x="2377440" y="4105656"/>
            <a:ext cx="3474720" cy="29260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CORN ordinal — 4 boundary logits</a:t>
            </a:r>
            <a:endParaRPr lang="en-US" sz="1200" dirty="0"/>
          </a:p>
        </p:txBody>
      </p:sp>
      <p:sp>
        <p:nvSpPr>
          <p:cNvPr id="16" name="Text 14"/>
          <p:cNvSpPr txBox="1"/>
          <p:nvPr/>
        </p:nvSpPr>
        <p:spPr>
          <a:xfrm>
            <a:off x="822960" y="4572000"/>
            <a:ext cx="1508760" cy="292608"/>
          </a:xfrm>
          <a:prstGeom prst="rect">
            <a:avLst/>
          </a:prstGeom>
          <a:noFill/>
          <a:ln/>
        </p:spPr>
        <p:txBody>
          <a:bodyPr wrap="square" lIns="0" tIns="0" rIns="0" bIns="0" rtlCol="0" anchor="ctr"/>
          <a:lstStyle/>
          <a:p>
            <a:pPr indent="0" marL="0">
              <a:buNone/>
            </a:pPr>
            <a:r>
              <a:rPr lang="en-US" sz="1200" b="1" dirty="0">
                <a:solidFill>
                  <a:srgbClr val="141B34"/>
                </a:solidFill>
                <a:latin typeface="Calibri" pitchFamily="34" charset="0"/>
                <a:ea typeface="Calibri" pitchFamily="34" charset="-122"/>
                <a:cs typeface="Calibri" pitchFamily="34" charset="-120"/>
              </a:rPr>
              <a:t>Parameters</a:t>
            </a:r>
            <a:endParaRPr lang="en-US" sz="1200" dirty="0"/>
          </a:p>
        </p:txBody>
      </p:sp>
      <p:sp>
        <p:nvSpPr>
          <p:cNvPr id="17" name="Text 15"/>
          <p:cNvSpPr txBox="1"/>
          <p:nvPr/>
        </p:nvSpPr>
        <p:spPr>
          <a:xfrm>
            <a:off x="2377440" y="4572000"/>
            <a:ext cx="3474720" cy="29260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4.34 M</a:t>
            </a:r>
            <a:endParaRPr lang="en-US" sz="1200" dirty="0"/>
          </a:p>
        </p:txBody>
      </p:sp>
      <p:sp>
        <p:nvSpPr>
          <p:cNvPr id="18" name="Text 16"/>
          <p:cNvSpPr txBox="1"/>
          <p:nvPr/>
        </p:nvSpPr>
        <p:spPr>
          <a:xfrm>
            <a:off x="822960" y="5038344"/>
            <a:ext cx="1508760" cy="292608"/>
          </a:xfrm>
          <a:prstGeom prst="rect">
            <a:avLst/>
          </a:prstGeom>
          <a:noFill/>
          <a:ln/>
        </p:spPr>
        <p:txBody>
          <a:bodyPr wrap="square" lIns="0" tIns="0" rIns="0" bIns="0" rtlCol="0" anchor="ctr"/>
          <a:lstStyle/>
          <a:p>
            <a:pPr indent="0" marL="0">
              <a:buNone/>
            </a:pPr>
            <a:r>
              <a:rPr lang="en-US" sz="1200" b="1" dirty="0">
                <a:solidFill>
                  <a:srgbClr val="141B34"/>
                </a:solidFill>
                <a:latin typeface="Calibri" pitchFamily="34" charset="0"/>
                <a:ea typeface="Calibri" pitchFamily="34" charset="-122"/>
                <a:cs typeface="Calibri" pitchFamily="34" charset="-120"/>
              </a:rPr>
              <a:t>Selection</a:t>
            </a:r>
            <a:endParaRPr lang="en-US" sz="1200" dirty="0"/>
          </a:p>
        </p:txBody>
      </p:sp>
      <p:sp>
        <p:nvSpPr>
          <p:cNvPr id="19" name="Text 17"/>
          <p:cNvSpPr txBox="1"/>
          <p:nvPr/>
        </p:nvSpPr>
        <p:spPr>
          <a:xfrm>
            <a:off x="2377440" y="5038344"/>
            <a:ext cx="3474720" cy="29260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QWK on val, EMA weights</a:t>
            </a:r>
            <a:endParaRPr lang="en-US" sz="1200" dirty="0"/>
          </a:p>
        </p:txBody>
      </p:sp>
      <p:sp>
        <p:nvSpPr>
          <p:cNvPr id="20" name="Text 18"/>
          <p:cNvSpPr txBox="1"/>
          <p:nvPr/>
        </p:nvSpPr>
        <p:spPr>
          <a:xfrm>
            <a:off x="822960" y="5504688"/>
            <a:ext cx="1508760" cy="292608"/>
          </a:xfrm>
          <a:prstGeom prst="rect">
            <a:avLst/>
          </a:prstGeom>
          <a:noFill/>
          <a:ln/>
        </p:spPr>
        <p:txBody>
          <a:bodyPr wrap="square" lIns="0" tIns="0" rIns="0" bIns="0" rtlCol="0" anchor="ctr"/>
          <a:lstStyle/>
          <a:p>
            <a:pPr indent="0" marL="0">
              <a:buNone/>
            </a:pPr>
            <a:r>
              <a:rPr lang="en-US" sz="1200" b="1" dirty="0">
                <a:solidFill>
                  <a:srgbClr val="141B34"/>
                </a:solidFill>
                <a:latin typeface="Calibri" pitchFamily="34" charset="0"/>
                <a:ea typeface="Calibri" pitchFamily="34" charset="-122"/>
                <a:cs typeface="Calibri" pitchFamily="34" charset="-120"/>
              </a:rPr>
              <a:t>Sampler</a:t>
            </a:r>
            <a:endParaRPr lang="en-US" sz="1200" dirty="0"/>
          </a:p>
        </p:txBody>
      </p:sp>
      <p:sp>
        <p:nvSpPr>
          <p:cNvPr id="21" name="Text 19"/>
          <p:cNvSpPr txBox="1"/>
          <p:nvPr/>
        </p:nvSpPr>
        <p:spPr>
          <a:xfrm>
            <a:off x="2377440" y="5504688"/>
            <a:ext cx="3474720" cy="29260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sqrt-stratified, grades 3-4 to 27%</a:t>
            </a:r>
            <a:endParaRPr lang="en-US" sz="1200" dirty="0"/>
          </a:p>
        </p:txBody>
      </p:sp>
      <p:sp>
        <p:nvSpPr>
          <p:cNvPr id="22" name="Text 20"/>
          <p:cNvSpPr txBox="1"/>
          <p:nvPr/>
        </p:nvSpPr>
        <p:spPr>
          <a:xfrm>
            <a:off x="6400800" y="1783080"/>
            <a:ext cx="5212080" cy="365760"/>
          </a:xfrm>
          <a:prstGeom prst="rect">
            <a:avLst/>
          </a:prstGeom>
          <a:noFill/>
          <a:ln/>
        </p:spPr>
        <p:txBody>
          <a:bodyPr wrap="square" lIns="0" tIns="0" rIns="0" bIns="0" rtlCol="0" anchor="ctr"/>
          <a:lstStyle/>
          <a:p>
            <a:pPr indent="0" marL="0">
              <a:buNone/>
            </a:pPr>
            <a:r>
              <a:rPr lang="en-US" sz="2100" b="1" dirty="0">
                <a:solidFill>
                  <a:srgbClr val="141B34"/>
                </a:solidFill>
                <a:latin typeface="Cambria" pitchFamily="34" charset="0"/>
                <a:ea typeface="Cambria" pitchFamily="34" charset="-122"/>
                <a:cs typeface="Cambria" pitchFamily="34" charset="-120"/>
              </a:rPr>
              <a:t>Why CORN</a:t>
            </a:r>
            <a:endParaRPr lang="en-US" sz="2100" dirty="0"/>
          </a:p>
        </p:txBody>
      </p:sp>
      <p:sp>
        <p:nvSpPr>
          <p:cNvPr id="23" name="Text 21"/>
          <p:cNvSpPr txBox="1"/>
          <p:nvPr/>
        </p:nvSpPr>
        <p:spPr>
          <a:xfrm>
            <a:off x="6400800" y="2240280"/>
            <a:ext cx="5212080" cy="118872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Each logit models a conditional: </a:t>
            </a:r>
            <a:pPr indent="0" marL="0">
              <a:lnSpc>
                <a:spcPts val="1800"/>
              </a:lnSpc>
              <a:buNone/>
            </a:pPr>
            <a:r>
              <a:rPr lang="en-US" sz="1300" b="1" dirty="0">
                <a:solidFill>
                  <a:srgbClr val="141B34"/>
                </a:solidFill>
                <a:latin typeface="Calibri" pitchFamily="34" charset="0"/>
                <a:ea typeface="Calibri" pitchFamily="34" charset="-122"/>
                <a:cs typeface="Calibri" pitchFamily="34" charset="-120"/>
              </a:rPr>
              <a:t>P(y &gt; k | y &gt; k−1)</a:t>
            </a:r>
            <a:pPr indent="0" marL="0">
              <a:lnSpc>
                <a:spcPts val="1800"/>
              </a:lnSpc>
              <a:buNone/>
            </a:pPr>
            <a:r>
              <a:rPr lang="en-US" sz="1300" dirty="0">
                <a:solidFill>
                  <a:srgbClr val="6B7280"/>
                </a:solidFill>
                <a:latin typeface="Calibri" pitchFamily="34" charset="0"/>
                <a:ea typeface="Calibri" pitchFamily="34" charset="-122"/>
                <a:cs typeface="Calibri" pitchFamily="34" charset="-120"/>
              </a:rPr>
              <a:t>. Chaining them by cumulative product gives probabilities that are monotone non-increasing </a:t>
            </a:r>
            <a:pPr indent="0" marL="0">
              <a:lnSpc>
                <a:spcPts val="1800"/>
              </a:lnSpc>
              <a:buNone/>
            </a:pPr>
            <a:r>
              <a:rPr lang="en-US" sz="1300" b="1" dirty="0">
                <a:solidFill>
                  <a:srgbClr val="141B34"/>
                </a:solidFill>
                <a:latin typeface="Calibri" pitchFamily="34" charset="0"/>
                <a:ea typeface="Calibri" pitchFamily="34" charset="-122"/>
                <a:cs typeface="Calibri" pitchFamily="34" charset="-120"/>
              </a:rPr>
              <a:t>by construction</a:t>
            </a:r>
            <a:pPr indent="0" marL="0">
              <a:lnSpc>
                <a:spcPts val="1800"/>
              </a:lnSpc>
              <a:buNone/>
            </a:pPr>
            <a:r>
              <a:rPr lang="en-US" sz="1300" dirty="0">
                <a:solidFill>
                  <a:srgbClr val="6B7280"/>
                </a:solidFill>
                <a:latin typeface="Calibri" pitchFamily="34" charset="0"/>
                <a:ea typeface="Calibri" pitchFamily="34" charset="-122"/>
                <a:cs typeface="Calibri" pitchFamily="34" charset="-120"/>
              </a:rPr>
              <a:t> — the model cannot claim an eye is more likely severe than referable.</a:t>
            </a:r>
            <a:endParaRPr lang="en-US" sz="1300" dirty="0"/>
          </a:p>
        </p:txBody>
      </p:sp>
      <p:sp>
        <p:nvSpPr>
          <p:cNvPr id="24" name="Text 22"/>
          <p:cNvSpPr txBox="1"/>
          <p:nvPr/>
        </p:nvSpPr>
        <p:spPr>
          <a:xfrm>
            <a:off x="6400800" y="3429000"/>
            <a:ext cx="5212080" cy="502920"/>
          </a:xfrm>
          <a:prstGeom prst="rect">
            <a:avLst/>
          </a:prstGeom>
          <a:noFill/>
          <a:ln/>
        </p:spPr>
        <p:txBody>
          <a:bodyPr wrap="square" lIns="0" tIns="0" rIns="0" bIns="0" rtlCol="0" anchor="ctr"/>
          <a:lstStyle/>
          <a:p>
            <a:pPr indent="0" marL="0">
              <a:lnSpc>
                <a:spcPts val="1800"/>
              </a:lnSpc>
              <a:buNone/>
            </a:pPr>
            <a:r>
              <a:rPr lang="en-US" sz="1300" i="1" dirty="0">
                <a:solidFill>
                  <a:srgbClr val="E8833A"/>
                </a:solidFill>
                <a:latin typeface="Calibri" pitchFamily="34" charset="0"/>
                <a:ea typeface="Calibri" pitchFamily="34" charset="-122"/>
                <a:cs typeface="Calibri" pitchFamily="34" charset="-120"/>
              </a:rPr>
              <a:t>That single guarantee is what makes one score, P(grade ≥ 2), a defensible referral decision.</a:t>
            </a:r>
            <a:endParaRPr lang="en-US" sz="1300" dirty="0"/>
          </a:p>
        </p:txBody>
      </p:sp>
      <p:sp>
        <p:nvSpPr>
          <p:cNvPr id="25" name="Shape 23"/>
          <p:cNvSpPr/>
          <p:nvPr/>
        </p:nvSpPr>
        <p:spPr>
          <a:xfrm>
            <a:off x="6400800" y="4114800"/>
            <a:ext cx="5212080" cy="2011680"/>
          </a:xfrm>
          <a:prstGeom prst="roundRect">
            <a:avLst>
              <a:gd name="adj" fmla="val 2727"/>
            </a:avLst>
          </a:prstGeom>
          <a:solidFill>
            <a:srgbClr val="141B34"/>
          </a:solidFill>
          <a:ln/>
        </p:spPr>
      </p:sp>
      <p:sp>
        <p:nvSpPr>
          <p:cNvPr id="26" name="Text 24"/>
          <p:cNvSpPr txBox="1"/>
          <p:nvPr/>
        </p:nvSpPr>
        <p:spPr>
          <a:xfrm>
            <a:off x="6675120" y="4315968"/>
            <a:ext cx="4663440" cy="274320"/>
          </a:xfrm>
          <a:prstGeom prst="rect">
            <a:avLst/>
          </a:prstGeom>
          <a:noFill/>
          <a:ln/>
        </p:spPr>
        <p:txBody>
          <a:bodyPr wrap="square" lIns="0" tIns="0" rIns="0" bIns="0" rtlCol="0" anchor="ctr"/>
          <a:lstStyle/>
          <a:p>
            <a:pPr indent="0" marL="0">
              <a:buNone/>
            </a:pPr>
            <a:r>
              <a:rPr lang="en-US" sz="1050" b="1" spc="100" kern="0" dirty="0">
                <a:solidFill>
                  <a:srgbClr val="E8833A"/>
                </a:solidFill>
                <a:latin typeface="Calibri" pitchFamily="34" charset="0"/>
                <a:ea typeface="Calibri" pitchFamily="34" charset="-122"/>
                <a:cs typeface="Calibri" pitchFamily="34" charset="-120"/>
              </a:rPr>
              <a:t>THE BINDING CONSTRAINT</a:t>
            </a:r>
            <a:endParaRPr lang="en-US" sz="1050" dirty="0"/>
          </a:p>
        </p:txBody>
      </p:sp>
      <p:sp>
        <p:nvSpPr>
          <p:cNvPr id="27" name="Text 25"/>
          <p:cNvSpPr txBox="1"/>
          <p:nvPr/>
        </p:nvSpPr>
        <p:spPr>
          <a:xfrm>
            <a:off x="6675120" y="4645152"/>
            <a:ext cx="4663440" cy="1280160"/>
          </a:xfrm>
          <a:prstGeom prst="rect">
            <a:avLst/>
          </a:prstGeom>
          <a:noFill/>
          <a:ln/>
        </p:spPr>
        <p:txBody>
          <a:bodyPr wrap="square" lIns="0" tIns="0" rIns="0" bIns="0" rtlCol="0" anchor="ctr"/>
          <a:lstStyle/>
          <a:p>
            <a:pPr indent="0" marL="0">
              <a:lnSpc>
                <a:spcPts val="1700"/>
              </a:lnSpc>
              <a:buNone/>
            </a:pPr>
            <a:r>
              <a:rPr lang="en-US" sz="1250" dirty="0">
                <a:solidFill>
                  <a:srgbClr val="C9D2E3"/>
                </a:solidFill>
                <a:latin typeface="Calibri" pitchFamily="34" charset="0"/>
                <a:ea typeface="Calibri" pitchFamily="34" charset="-122"/>
                <a:cs typeface="Calibri" pitchFamily="34" charset="-120"/>
              </a:rPr>
              <a:t>CORN trains boundary k only on the subset with y &gt; k−1. The grade-4-vs-3 conditional therefore sees grades 3 and 4 alone — 467 images — and it decides every severe-vs-proliferative call the system makes.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Segmentation runs at 1024, the grader at 512</a:t>
            </a:r>
            <a:endParaRPr lang="en-US" sz="3200" dirty="0"/>
          </a:p>
        </p:txBody>
      </p:sp>
      <p:sp>
        <p:nvSpPr>
          <p:cNvPr id="3" name="Text 1"/>
          <p:cNvSpPr txBox="1"/>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Not a tuning preference — a microaneurysm survives downsampling from 4288px as roughly four pixels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309360" cy="914400"/>
        </p:xfrm>
        <a:graphic>
          <a:graphicData uri="http://schemas.openxmlformats.org/drawingml/2006/table">
            <a:tbl>
              <a:tblPr/>
              <a:tblGrid>
                <a:gridCol w="2194560"/>
                <a:gridCol w="1280160"/>
                <a:gridCol w="1371600"/>
                <a:gridCol w="146304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Lesion class</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141B3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Dice @512</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141B3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Dice @1024</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141B3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Published range</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141B34"/>
                    </a:solidFill>
                  </a:tcPr>
                </a:tc>
              </a:tr>
              <a:tr h="384048">
                <a:tc>
                  <a:txBody>
                    <a:bodyPr/>
                    <a:lstStyle/>
                    <a:p>
                      <a:pPr indent="0" marL="0">
                        <a:buNone/>
                      </a:pPr>
                      <a:r>
                        <a:rPr lang="en-US" sz="1250" dirty="0">
                          <a:solidFill>
                            <a:srgbClr val="141B34"/>
                          </a:solidFill>
                          <a:latin typeface="Calibri" pitchFamily="34" charset="0"/>
                          <a:ea typeface="Calibri" pitchFamily="34" charset="-122"/>
                          <a:cs typeface="Calibri" pitchFamily="34" charset="-120"/>
                        </a:rPr>
                        <a:t>Microaneurysm</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D64545"/>
                          </a:solidFill>
                          <a:latin typeface="Calibri" pitchFamily="34" charset="0"/>
                          <a:ea typeface="Calibri" pitchFamily="34" charset="-122"/>
                          <a:cs typeface="Calibri" pitchFamily="34" charset="-120"/>
                        </a:rPr>
                        <a:t>0.000</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9E5A"/>
                          </a:solidFill>
                          <a:latin typeface="Calibri" pitchFamily="34" charset="0"/>
                          <a:ea typeface="Calibri" pitchFamily="34" charset="-122"/>
                          <a:cs typeface="Calibri" pitchFamily="34" charset="-120"/>
                        </a:rPr>
                        <a:t>0.481</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0.30–0.50</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41B34"/>
                          </a:solidFill>
                          <a:latin typeface="Calibri" pitchFamily="34" charset="0"/>
                          <a:ea typeface="Calibri" pitchFamily="34" charset="-122"/>
                          <a:cs typeface="Calibri" pitchFamily="34" charset="-120"/>
                        </a:rPr>
                        <a:t>Haemorrhage</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0.248</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9E5A"/>
                          </a:solidFill>
                          <a:latin typeface="Calibri" pitchFamily="34" charset="0"/>
                          <a:ea typeface="Calibri" pitchFamily="34" charset="-122"/>
                          <a:cs typeface="Calibri" pitchFamily="34" charset="-120"/>
                        </a:rPr>
                        <a:t>0.539</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0.50–0.65</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41B34"/>
                          </a:solidFill>
                          <a:latin typeface="Calibri" pitchFamily="34" charset="0"/>
                          <a:ea typeface="Calibri" pitchFamily="34" charset="-122"/>
                          <a:cs typeface="Calibri" pitchFamily="34" charset="-120"/>
                        </a:rPr>
                        <a:t>Hard exudate</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0.272</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9E5A"/>
                          </a:solidFill>
                          <a:latin typeface="Calibri" pitchFamily="34" charset="0"/>
                          <a:ea typeface="Calibri" pitchFamily="34" charset="-122"/>
                          <a:cs typeface="Calibri" pitchFamily="34" charset="-120"/>
                        </a:rPr>
                        <a:t>0.572</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0.70–0.80</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41B34"/>
                          </a:solidFill>
                          <a:latin typeface="Calibri" pitchFamily="34" charset="0"/>
                          <a:ea typeface="Calibri" pitchFamily="34" charset="-122"/>
                          <a:cs typeface="Calibri" pitchFamily="34" charset="-120"/>
                        </a:rPr>
                        <a:t>Cotton-wool spot</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0.187</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9E5A"/>
                          </a:solidFill>
                          <a:latin typeface="Calibri" pitchFamily="34" charset="0"/>
                          <a:ea typeface="Calibri" pitchFamily="34" charset="-122"/>
                          <a:cs typeface="Calibri" pitchFamily="34" charset="-120"/>
                        </a:rPr>
                        <a:t>0.628</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0.55–0.70</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3840480"/>
            <a:ext cx="6309360" cy="548640"/>
          </a:xfrm>
          <a:prstGeom prst="rect">
            <a:avLst/>
          </a:prstGeom>
          <a:noFill/>
          <a:ln/>
        </p:spPr>
        <p:txBody>
          <a:bodyPr wrap="square" lIns="0" tIns="0" rIns="0" bIns="0" rtlCol="0" anchor="ctr"/>
          <a:lstStyle/>
          <a:p>
            <a:pPr indent="0" marL="0">
              <a:lnSpc>
                <a:spcPts val="1700"/>
              </a:lnSpc>
              <a:buNone/>
            </a:pPr>
            <a:r>
              <a:rPr lang="en-US" sz="1200" dirty="0">
                <a:solidFill>
                  <a:srgbClr val="6B7280"/>
                </a:solidFill>
                <a:latin typeface="Calibri" pitchFamily="34" charset="0"/>
                <a:ea typeface="Calibri" pitchFamily="34" charset="-122"/>
                <a:cs typeface="Calibri" pitchFamily="34" charset="-120"/>
              </a:rPr>
              <a:t>Attention U-Net · width 24 · 4.43 M parameters · deep supervision · focal Tversky loss (β &gt; α, so false negatives cost more)</a:t>
            </a:r>
            <a:endParaRPr lang="en-US" sz="1200" dirty="0"/>
          </a:p>
        </p:txBody>
      </p:sp>
      <p:sp>
        <p:nvSpPr>
          <p:cNvPr id="6" name="Shape 3"/>
          <p:cNvSpPr/>
          <p:nvPr/>
        </p:nvSpPr>
        <p:spPr>
          <a:xfrm>
            <a:off x="548640" y="4526280"/>
            <a:ext cx="6309360" cy="1600200"/>
          </a:xfrm>
          <a:prstGeom prst="roundRect">
            <a:avLst>
              <a:gd name="adj" fmla="val 3429"/>
            </a:avLst>
          </a:prstGeom>
          <a:solidFill>
            <a:srgbClr val="141B34"/>
          </a:solidFill>
          <a:ln/>
        </p:spPr>
      </p:sp>
      <p:sp>
        <p:nvSpPr>
          <p:cNvPr id="7" name="Text 4"/>
          <p:cNvSpPr txBox="1"/>
          <p:nvPr/>
        </p:nvSpPr>
        <p:spPr>
          <a:xfrm>
            <a:off x="822960" y="4736592"/>
            <a:ext cx="5760720" cy="274320"/>
          </a:xfrm>
          <a:prstGeom prst="rect">
            <a:avLst/>
          </a:prstGeom>
          <a:noFill/>
          <a:ln/>
        </p:spPr>
        <p:txBody>
          <a:bodyPr wrap="square" lIns="0" tIns="0" rIns="0" bIns="0" rtlCol="0" anchor="ctr"/>
          <a:lstStyle/>
          <a:p>
            <a:pPr indent="0" marL="0">
              <a:buNone/>
            </a:pPr>
            <a:r>
              <a:rPr lang="en-US" sz="1050" b="1" spc="100" kern="0" dirty="0">
                <a:solidFill>
                  <a:srgbClr val="E8833A"/>
                </a:solidFill>
                <a:latin typeface="Calibri" pitchFamily="34" charset="0"/>
                <a:ea typeface="Calibri" pitchFamily="34" charset="-122"/>
                <a:cs typeface="Calibri" pitchFamily="34" charset="-120"/>
              </a:rPr>
              <a:t>THE COST OF GETTING THIS WRONG</a:t>
            </a:r>
            <a:endParaRPr lang="en-US" sz="1050" dirty="0"/>
          </a:p>
        </p:txBody>
      </p:sp>
      <p:sp>
        <p:nvSpPr>
          <p:cNvPr id="8" name="Text 5"/>
          <p:cNvSpPr txBox="1"/>
          <p:nvPr/>
        </p:nvSpPr>
        <p:spPr>
          <a:xfrm>
            <a:off x="822960" y="5074920"/>
            <a:ext cx="5760720" cy="914400"/>
          </a:xfrm>
          <a:prstGeom prst="rect">
            <a:avLst/>
          </a:prstGeom>
          <a:noFill/>
          <a:ln/>
        </p:spPr>
        <p:txBody>
          <a:bodyPr wrap="square" lIns="0" tIns="0" rIns="0" bIns="0" rtlCol="0" anchor="ctr"/>
          <a:lstStyle/>
          <a:p>
            <a:pPr indent="0" marL="0">
              <a:lnSpc>
                <a:spcPts val="1700"/>
              </a:lnSpc>
              <a:buNone/>
            </a:pPr>
            <a:r>
              <a:rPr lang="en-US" sz="1200" dirty="0">
                <a:solidFill>
                  <a:srgbClr val="C9D2E3"/>
                </a:solidFill>
                <a:latin typeface="Calibri" pitchFamily="34" charset="0"/>
                <a:ea typeface="Calibri" pitchFamily="34" charset="-122"/>
                <a:cs typeface="Calibri" pitchFamily="34" charset="-120"/>
              </a:rPr>
              <a:t>Training at 1024 and serving at 512 would hand the grader lesion counts it was never fitted on, and no metric would show it — validation reads the same cohort training produced. The resolution is recorded in the checkpoint and the deploy bundle, so the served pipeline cannot silently disagree with its own validation.</a:t>
            </a:r>
            <a:endParaRPr lang="en-US" sz="1200" dirty="0"/>
          </a:p>
        </p:txBody>
      </p:sp>
      <p:sp>
        <p:nvSpPr>
          <p:cNvPr id="9" name="Shape 6"/>
          <p:cNvSpPr/>
          <p:nvPr/>
        </p:nvSpPr>
        <p:spPr>
          <a:xfrm>
            <a:off x="7223760" y="1691640"/>
            <a:ext cx="4389120" cy="2148840"/>
          </a:xfrm>
          <a:prstGeom prst="roundRect">
            <a:avLst>
              <a:gd name="adj" fmla="val 2553"/>
            </a:avLst>
          </a:prstGeom>
          <a:solidFill>
            <a:srgbClr val="FBEEE4"/>
          </a:solidFill>
          <a:ln/>
        </p:spPr>
      </p:sp>
      <p:sp>
        <p:nvSpPr>
          <p:cNvPr id="10" name="Text 7"/>
          <p:cNvSpPr txBox="1"/>
          <p:nvPr/>
        </p:nvSpPr>
        <p:spPr>
          <a:xfrm>
            <a:off x="7498080" y="1920240"/>
            <a:ext cx="3840480" cy="365760"/>
          </a:xfrm>
          <a:prstGeom prst="rect">
            <a:avLst/>
          </a:prstGeom>
          <a:noFill/>
          <a:ln/>
        </p:spPr>
        <p:txBody>
          <a:bodyPr wrap="square" lIns="0" tIns="0" rIns="0" bIns="0" rtlCol="0" anchor="ctr"/>
          <a:lstStyle/>
          <a:p>
            <a:pPr indent="0" marL="0">
              <a:buNone/>
            </a:pPr>
            <a:r>
              <a:rPr lang="en-US" sz="1400" b="1" dirty="0">
                <a:solidFill>
                  <a:srgbClr val="8A4B16"/>
                </a:solidFill>
                <a:latin typeface="Calibri" pitchFamily="34" charset="0"/>
                <a:ea typeface="Calibri" pitchFamily="34" charset="-122"/>
                <a:cs typeface="Calibri" pitchFamily="34" charset="-120"/>
              </a:rPr>
              <a:t>Neovascularisation is NOT assessed</a:t>
            </a:r>
            <a:endParaRPr lang="en-US" sz="1400" dirty="0"/>
          </a:p>
        </p:txBody>
      </p:sp>
      <p:sp>
        <p:nvSpPr>
          <p:cNvPr id="11" name="Text 8"/>
          <p:cNvSpPr txBox="1"/>
          <p:nvPr/>
        </p:nvSpPr>
        <p:spPr>
          <a:xfrm>
            <a:off x="7498080" y="2359152"/>
            <a:ext cx="3840480" cy="1280160"/>
          </a:xfrm>
          <a:prstGeom prst="rect">
            <a:avLst/>
          </a:prstGeom>
          <a:noFill/>
          <a:ln/>
        </p:spPr>
        <p:txBody>
          <a:bodyPr wrap="square" lIns="0" tIns="0" rIns="0" bIns="0" rtlCol="0" anchor="ctr"/>
          <a:lstStyle/>
          <a:p>
            <a:pPr indent="0" marL="0">
              <a:lnSpc>
                <a:spcPts val="1600"/>
              </a:lnSpc>
              <a:buNone/>
            </a:pPr>
            <a:r>
              <a:rPr lang="en-US" sz="1200" dirty="0">
                <a:solidFill>
                  <a:srgbClr val="6B4321"/>
                </a:solidFill>
                <a:latin typeface="Calibri" pitchFamily="34" charset="0"/>
                <a:ea typeface="Calibri" pitchFamily="34" charset="-122"/>
                <a:cs typeface="Calibri" pitchFamily="34" charset="-120"/>
              </a:rPr>
              <a:t>No public corpus used here annotates it — verified across IDRiD (81) and DDR (532). The channel is excluded from the loss and the report says "not assessed", never "none detected".</a:t>
            </a:r>
            <a:endParaRPr lang="en-US" sz="1200" dirty="0"/>
          </a:p>
        </p:txBody>
      </p:sp>
      <p:sp>
        <p:nvSpPr>
          <p:cNvPr id="12" name="Shape 9"/>
          <p:cNvSpPr/>
          <p:nvPr/>
        </p:nvSpPr>
        <p:spPr>
          <a:xfrm>
            <a:off x="7223760" y="4069080"/>
            <a:ext cx="4389120" cy="2057400"/>
          </a:xfrm>
          <a:prstGeom prst="roundRect">
            <a:avLst>
              <a:gd name="adj" fmla="val 2667"/>
            </a:avLst>
          </a:prstGeom>
          <a:solidFill>
            <a:srgbClr val="F3F5FA"/>
          </a:solidFill>
          <a:ln/>
        </p:spPr>
      </p:sp>
      <p:sp>
        <p:nvSpPr>
          <p:cNvPr id="13" name="Text 10"/>
          <p:cNvSpPr txBox="1"/>
          <p:nvPr/>
        </p:nvSpPr>
        <p:spPr>
          <a:xfrm>
            <a:off x="7498080" y="4297680"/>
            <a:ext cx="3840480" cy="320040"/>
          </a:xfrm>
          <a:prstGeom prst="rect">
            <a:avLst/>
          </a:prstGeom>
          <a:noFill/>
          <a:ln/>
        </p:spPr>
        <p:txBody>
          <a:bodyPr wrap="square" lIns="0" tIns="0" rIns="0" bIns="0" rtlCol="0" anchor="ctr"/>
          <a:lstStyle/>
          <a:p>
            <a:pPr indent="0" marL="0">
              <a:buNone/>
            </a:pPr>
            <a:r>
              <a:rPr lang="en-US" sz="1400" b="1" dirty="0">
                <a:solidFill>
                  <a:srgbClr val="141B34"/>
                </a:solidFill>
                <a:latin typeface="Calibri" pitchFamily="34" charset="0"/>
                <a:ea typeface="Calibri" pitchFamily="34" charset="-122"/>
                <a:cs typeface="Calibri" pitchFamily="34" charset="-120"/>
              </a:rPr>
              <a:t>Why it matters clinically</a:t>
            </a:r>
            <a:endParaRPr lang="en-US" sz="1400" dirty="0"/>
          </a:p>
        </p:txBody>
      </p:sp>
      <p:sp>
        <p:nvSpPr>
          <p:cNvPr id="14" name="Text 11"/>
          <p:cNvSpPr txBox="1"/>
          <p:nvPr/>
        </p:nvSpPr>
        <p:spPr>
          <a:xfrm>
            <a:off x="7498080" y="4681728"/>
            <a:ext cx="3840480" cy="123444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NV defines proliferative DR. Saying "none detected" would claim an exclusion the model never made — the difference between "we looked and it is clear" and "we never looked".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34"/>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Every cut-point is fitted on validation data</a:t>
            </a:r>
            <a:endParaRPr lang="en-US" sz="3200" dirty="0"/>
          </a:p>
        </p:txBody>
      </p:sp>
      <p:sp>
        <p:nvSpPr>
          <p:cNvPr id="3" name="Text 1"/>
          <p:cNvSpPr txBox="1"/>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E8833A"/>
                </a:solidFill>
                <a:latin typeface="Calibri" pitchFamily="34" charset="0"/>
                <a:ea typeface="Calibri" pitchFamily="34" charset="-122"/>
                <a:cs typeface="Calibri" pitchFamily="34" charset="-120"/>
              </a:rPr>
              <a:t>Not one hard-coded 0.5 remains in the decision path — and none was chosen by looking at Messidor-2</a:t>
            </a:r>
            <a:endParaRPr lang="en-US" sz="1400" dirty="0"/>
          </a:p>
        </p:txBody>
      </p:sp>
      <p:sp>
        <p:nvSpPr>
          <p:cNvPr id="4" name="Shape 2"/>
          <p:cNvSpPr/>
          <p:nvPr/>
        </p:nvSpPr>
        <p:spPr>
          <a:xfrm>
            <a:off x="548640" y="1691640"/>
            <a:ext cx="11064240" cy="749808"/>
          </a:xfrm>
          <a:prstGeom prst="roundRect">
            <a:avLst>
              <a:gd name="adj" fmla="val 4878"/>
            </a:avLst>
          </a:prstGeom>
          <a:solidFill>
            <a:srgbClr val="1E2749"/>
          </a:solidFill>
          <a:ln/>
        </p:spPr>
      </p:sp>
      <p:sp>
        <p:nvSpPr>
          <p:cNvPr id="5" name="Text 3"/>
          <p:cNvSpPr txBox="1"/>
          <p:nvPr/>
        </p:nvSpPr>
        <p:spPr>
          <a:xfrm>
            <a:off x="822960" y="1773936"/>
            <a:ext cx="2103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Referral</a:t>
            </a:r>
            <a:endParaRPr lang="en-US" sz="1350" dirty="0"/>
          </a:p>
        </p:txBody>
      </p:sp>
      <p:sp>
        <p:nvSpPr>
          <p:cNvPr id="6" name="Text 4"/>
          <p:cNvSpPr txBox="1"/>
          <p:nvPr/>
        </p:nvSpPr>
        <p:spPr>
          <a:xfrm>
            <a:off x="822960" y="2084832"/>
            <a:ext cx="2103120" cy="256032"/>
          </a:xfrm>
          <a:prstGeom prst="rect">
            <a:avLst/>
          </a:prstGeom>
          <a:noFill/>
          <a:ln/>
        </p:spPr>
        <p:txBody>
          <a:bodyPr wrap="square" lIns="0" tIns="0" rIns="0" bIns="0" rtlCol="0" anchor="ctr"/>
          <a:lstStyle/>
          <a:p>
            <a:pPr indent="0" marL="0">
              <a:buNone/>
            </a:pPr>
            <a:r>
              <a:rPr lang="en-US" sz="1050" dirty="0">
                <a:solidFill>
                  <a:srgbClr val="8894AC"/>
                </a:solidFill>
                <a:latin typeface="Calibri" pitchFamily="34" charset="0"/>
                <a:ea typeface="Calibri" pitchFamily="34" charset="-122"/>
                <a:cs typeface="Calibri" pitchFamily="34" charset="-120"/>
              </a:rPr>
              <a:t>on P(grade ≥ 2)</a:t>
            </a:r>
            <a:endParaRPr lang="en-US" sz="1050" dirty="0"/>
          </a:p>
        </p:txBody>
      </p:sp>
      <p:sp>
        <p:nvSpPr>
          <p:cNvPr id="7" name="Text 5"/>
          <p:cNvSpPr txBox="1"/>
          <p:nvPr/>
        </p:nvSpPr>
        <p:spPr>
          <a:xfrm>
            <a:off x="3063240" y="1874520"/>
            <a:ext cx="3017520" cy="384048"/>
          </a:xfrm>
          <a:prstGeom prst="rect">
            <a:avLst/>
          </a:prstGeom>
          <a:noFill/>
          <a:ln/>
        </p:spPr>
        <p:txBody>
          <a:bodyPr wrap="square" lIns="0" tIns="0" rIns="0" bIns="0" rtlCol="0" anchor="ctr"/>
          <a:lstStyle/>
          <a:p>
            <a:pPr indent="0" marL="0">
              <a:buNone/>
            </a:pPr>
            <a:r>
              <a:rPr lang="en-US" sz="1700" b="1" dirty="0">
                <a:solidFill>
                  <a:srgbClr val="E8833A"/>
                </a:solidFill>
                <a:latin typeface="Cambria" pitchFamily="34" charset="0"/>
                <a:ea typeface="Cambria" pitchFamily="34" charset="-122"/>
                <a:cs typeface="Cambria" pitchFamily="34" charset="-120"/>
              </a:rPr>
              <a:t>0.1999</a:t>
            </a:r>
            <a:endParaRPr lang="en-US" sz="1700" dirty="0"/>
          </a:p>
        </p:txBody>
      </p:sp>
      <p:sp>
        <p:nvSpPr>
          <p:cNvPr id="8" name="Text 6"/>
          <p:cNvSpPr txBox="1"/>
          <p:nvPr/>
        </p:nvSpPr>
        <p:spPr>
          <a:xfrm>
            <a:off x="6263640" y="1911096"/>
            <a:ext cx="2377440" cy="310896"/>
          </a:xfrm>
          <a:prstGeom prst="rect">
            <a:avLst/>
          </a:prstGeom>
          <a:noFill/>
          <a:ln/>
        </p:spPr>
        <p:txBody>
          <a:bodyPr wrap="square" lIns="0" tIns="0" rIns="0" bIns="0" rtlCol="0" anchor="ctr"/>
          <a:lstStyle/>
          <a:p>
            <a:pPr indent="0" marL="0">
              <a:buNone/>
            </a:pPr>
            <a:r>
              <a:rPr lang="en-US" sz="1150" dirty="0">
                <a:solidFill>
                  <a:srgbClr val="C9D2E3"/>
                </a:solidFill>
                <a:latin typeface="Calibri" pitchFamily="34" charset="0"/>
                <a:ea typeface="Calibri" pitchFamily="34" charset="-122"/>
                <a:cs typeface="Calibri" pitchFamily="34" charset="-120"/>
              </a:rPr>
              <a:t>val, sensitivity-first</a:t>
            </a:r>
            <a:endParaRPr lang="en-US" sz="1150" dirty="0"/>
          </a:p>
        </p:txBody>
      </p:sp>
      <p:sp>
        <p:nvSpPr>
          <p:cNvPr id="9" name="Text 7"/>
          <p:cNvSpPr txBox="1"/>
          <p:nvPr/>
        </p:nvSpPr>
        <p:spPr>
          <a:xfrm>
            <a:off x="8778240" y="1911096"/>
            <a:ext cx="2743200" cy="310896"/>
          </a:xfrm>
          <a:prstGeom prst="rect">
            <a:avLst/>
          </a:prstGeom>
          <a:noFill/>
          <a:ln/>
        </p:spPr>
        <p:txBody>
          <a:bodyPr wrap="square" lIns="0" tIns="0" rIns="0" bIns="0" rtlCol="0" anchor="ctr"/>
          <a:lstStyle/>
          <a:p>
            <a:pPr indent="0" marL="0">
              <a:buNone/>
            </a:pPr>
            <a:r>
              <a:rPr lang="en-US" sz="1150" i="1" dirty="0">
                <a:solidFill>
                  <a:srgbClr val="5B6784"/>
                </a:solidFill>
                <a:latin typeface="Calibri" pitchFamily="34" charset="0"/>
                <a:ea typeface="Calibri" pitchFamily="34" charset="-122"/>
                <a:cs typeface="Calibri" pitchFamily="34" charset="-120"/>
              </a:rPr>
              <a:t>—</a:t>
            </a:r>
            <a:endParaRPr lang="en-US" sz="1150" dirty="0"/>
          </a:p>
        </p:txBody>
      </p:sp>
      <p:sp>
        <p:nvSpPr>
          <p:cNvPr id="10" name="Shape 8"/>
          <p:cNvSpPr/>
          <p:nvPr/>
        </p:nvSpPr>
        <p:spPr>
          <a:xfrm>
            <a:off x="548640" y="2587752"/>
            <a:ext cx="11064240" cy="749808"/>
          </a:xfrm>
          <a:prstGeom prst="roundRect">
            <a:avLst>
              <a:gd name="adj" fmla="val 4878"/>
            </a:avLst>
          </a:prstGeom>
          <a:solidFill>
            <a:srgbClr val="2A2244"/>
          </a:solidFill>
          <a:ln/>
        </p:spPr>
      </p:sp>
      <p:sp>
        <p:nvSpPr>
          <p:cNvPr id="11" name="Text 9"/>
          <p:cNvSpPr txBox="1"/>
          <p:nvPr/>
        </p:nvSpPr>
        <p:spPr>
          <a:xfrm>
            <a:off x="822960" y="2670048"/>
            <a:ext cx="2103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Urgency</a:t>
            </a:r>
            <a:endParaRPr lang="en-US" sz="1350" dirty="0"/>
          </a:p>
        </p:txBody>
      </p:sp>
      <p:sp>
        <p:nvSpPr>
          <p:cNvPr id="12" name="Text 10"/>
          <p:cNvSpPr txBox="1"/>
          <p:nvPr/>
        </p:nvSpPr>
        <p:spPr>
          <a:xfrm>
            <a:off x="822960" y="2980944"/>
            <a:ext cx="2103120" cy="256032"/>
          </a:xfrm>
          <a:prstGeom prst="rect">
            <a:avLst/>
          </a:prstGeom>
          <a:noFill/>
          <a:ln/>
        </p:spPr>
        <p:txBody>
          <a:bodyPr wrap="square" lIns="0" tIns="0" rIns="0" bIns="0" rtlCol="0" anchor="ctr"/>
          <a:lstStyle/>
          <a:p>
            <a:pPr indent="0" marL="0">
              <a:buNone/>
            </a:pPr>
            <a:r>
              <a:rPr lang="en-US" sz="1050" dirty="0">
                <a:solidFill>
                  <a:srgbClr val="8894AC"/>
                </a:solidFill>
                <a:latin typeface="Calibri" pitchFamily="34" charset="0"/>
                <a:ea typeface="Calibri" pitchFamily="34" charset="-122"/>
                <a:cs typeface="Calibri" pitchFamily="34" charset="-120"/>
              </a:rPr>
              <a:t>on P(grade ≥ 3)</a:t>
            </a:r>
            <a:endParaRPr lang="en-US" sz="1050" dirty="0"/>
          </a:p>
        </p:txBody>
      </p:sp>
      <p:sp>
        <p:nvSpPr>
          <p:cNvPr id="13" name="Text 11"/>
          <p:cNvSpPr txBox="1"/>
          <p:nvPr/>
        </p:nvSpPr>
        <p:spPr>
          <a:xfrm>
            <a:off x="3063240" y="2770632"/>
            <a:ext cx="3017520" cy="384048"/>
          </a:xfrm>
          <a:prstGeom prst="rect">
            <a:avLst/>
          </a:prstGeom>
          <a:noFill/>
          <a:ln/>
        </p:spPr>
        <p:txBody>
          <a:bodyPr wrap="square" lIns="0" tIns="0" rIns="0" bIns="0" rtlCol="0" anchor="ctr"/>
          <a:lstStyle/>
          <a:p>
            <a:pPr indent="0" marL="0">
              <a:buNone/>
            </a:pPr>
            <a:r>
              <a:rPr lang="en-US" sz="1700" b="1" dirty="0">
                <a:solidFill>
                  <a:srgbClr val="E8833A"/>
                </a:solidFill>
                <a:latin typeface="Cambria" pitchFamily="34" charset="0"/>
                <a:ea typeface="Cambria" pitchFamily="34" charset="-122"/>
                <a:cs typeface="Cambria" pitchFamily="34" charset="-120"/>
              </a:rPr>
              <a:t>0.1184</a:t>
            </a:r>
            <a:endParaRPr lang="en-US" sz="1700" dirty="0"/>
          </a:p>
        </p:txBody>
      </p:sp>
      <p:sp>
        <p:nvSpPr>
          <p:cNvPr id="14" name="Text 12"/>
          <p:cNvSpPr txBox="1"/>
          <p:nvPr/>
        </p:nvSpPr>
        <p:spPr>
          <a:xfrm>
            <a:off x="6263640" y="2807208"/>
            <a:ext cx="2377440" cy="310896"/>
          </a:xfrm>
          <a:prstGeom prst="rect">
            <a:avLst/>
          </a:prstGeom>
          <a:noFill/>
          <a:ln/>
        </p:spPr>
        <p:txBody>
          <a:bodyPr wrap="square" lIns="0" tIns="0" rIns="0" bIns="0" rtlCol="0" anchor="ctr"/>
          <a:lstStyle/>
          <a:p>
            <a:pPr indent="0" marL="0">
              <a:buNone/>
            </a:pPr>
            <a:r>
              <a:rPr lang="en-US" sz="1150" dirty="0">
                <a:solidFill>
                  <a:srgbClr val="C9D2E3"/>
                </a:solidFill>
                <a:latin typeface="Calibri" pitchFamily="34" charset="0"/>
                <a:ea typeface="Calibri" pitchFamily="34" charset="-122"/>
                <a:cs typeface="Calibri" pitchFamily="34" charset="-120"/>
              </a:rPr>
              <a:t>val, sensitivity-first</a:t>
            </a:r>
            <a:endParaRPr lang="en-US" sz="1150" dirty="0"/>
          </a:p>
        </p:txBody>
      </p:sp>
      <p:sp>
        <p:nvSpPr>
          <p:cNvPr id="15" name="Text 13"/>
          <p:cNvSpPr txBox="1"/>
          <p:nvPr/>
        </p:nvSpPr>
        <p:spPr>
          <a:xfrm>
            <a:off x="8778240" y="2807208"/>
            <a:ext cx="2743200" cy="310896"/>
          </a:xfrm>
          <a:prstGeom prst="rect">
            <a:avLst/>
          </a:prstGeom>
          <a:noFill/>
          <a:ln/>
        </p:spPr>
        <p:txBody>
          <a:bodyPr wrap="square" lIns="0" tIns="0" rIns="0" bIns="0" rtlCol="0" anchor="ctr"/>
          <a:lstStyle/>
          <a:p>
            <a:pPr indent="0" marL="0">
              <a:buNone/>
            </a:pPr>
            <a:r>
              <a:rPr lang="en-US" sz="1150" i="1" dirty="0">
                <a:solidFill>
                  <a:srgbClr val="E8833A"/>
                </a:solidFill>
                <a:latin typeface="Calibri" pitchFamily="34" charset="0"/>
                <a:ea typeface="Calibri" pitchFamily="34" charset="-122"/>
                <a:cs typeface="Calibri" pitchFamily="34" charset="-120"/>
              </a:rPr>
              <a:t>was: predicted grade ≥ 3</a:t>
            </a:r>
            <a:endParaRPr lang="en-US" sz="1150" dirty="0"/>
          </a:p>
        </p:txBody>
      </p:sp>
      <p:sp>
        <p:nvSpPr>
          <p:cNvPr id="16" name="Shape 14"/>
          <p:cNvSpPr/>
          <p:nvPr/>
        </p:nvSpPr>
        <p:spPr>
          <a:xfrm>
            <a:off x="548640" y="3483864"/>
            <a:ext cx="11064240" cy="749808"/>
          </a:xfrm>
          <a:prstGeom prst="roundRect">
            <a:avLst>
              <a:gd name="adj" fmla="val 4878"/>
            </a:avLst>
          </a:prstGeom>
          <a:solidFill>
            <a:srgbClr val="1E2749"/>
          </a:solidFill>
          <a:ln/>
        </p:spPr>
      </p:sp>
      <p:sp>
        <p:nvSpPr>
          <p:cNvPr id="17" name="Text 15"/>
          <p:cNvSpPr txBox="1"/>
          <p:nvPr/>
        </p:nvSpPr>
        <p:spPr>
          <a:xfrm>
            <a:off x="822960" y="3566160"/>
            <a:ext cx="2103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Grade boundaries</a:t>
            </a:r>
            <a:endParaRPr lang="en-US" sz="1350" dirty="0"/>
          </a:p>
        </p:txBody>
      </p:sp>
      <p:sp>
        <p:nvSpPr>
          <p:cNvPr id="18" name="Text 16"/>
          <p:cNvSpPr txBox="1"/>
          <p:nvPr/>
        </p:nvSpPr>
        <p:spPr>
          <a:xfrm>
            <a:off x="822960" y="3877056"/>
            <a:ext cx="2103120" cy="256032"/>
          </a:xfrm>
          <a:prstGeom prst="rect">
            <a:avLst/>
          </a:prstGeom>
          <a:noFill/>
          <a:ln/>
        </p:spPr>
        <p:txBody>
          <a:bodyPr wrap="square" lIns="0" tIns="0" rIns="0" bIns="0" rtlCol="0" anchor="ctr"/>
          <a:lstStyle/>
          <a:p>
            <a:pPr indent="0" marL="0">
              <a:buNone/>
            </a:pPr>
            <a:r>
              <a:rPr lang="en-US" sz="1050" dirty="0">
                <a:solidFill>
                  <a:srgbClr val="8894AC"/>
                </a:solidFill>
                <a:latin typeface="Calibri" pitchFamily="34" charset="0"/>
                <a:ea typeface="Calibri" pitchFamily="34" charset="-122"/>
                <a:cs typeface="Calibri" pitchFamily="34" charset="-120"/>
              </a:rPr>
              <a:t>per CORN boundary</a:t>
            </a:r>
            <a:endParaRPr lang="en-US" sz="1050" dirty="0"/>
          </a:p>
        </p:txBody>
      </p:sp>
      <p:sp>
        <p:nvSpPr>
          <p:cNvPr id="19" name="Text 17"/>
          <p:cNvSpPr txBox="1"/>
          <p:nvPr/>
        </p:nvSpPr>
        <p:spPr>
          <a:xfrm>
            <a:off x="3063240" y="3666744"/>
            <a:ext cx="3017520" cy="384048"/>
          </a:xfrm>
          <a:prstGeom prst="rect">
            <a:avLst/>
          </a:prstGeom>
          <a:noFill/>
          <a:ln/>
        </p:spPr>
        <p:txBody>
          <a:bodyPr wrap="square" lIns="0" tIns="0" rIns="0" bIns="0" rtlCol="0" anchor="ctr"/>
          <a:lstStyle/>
          <a:p>
            <a:pPr indent="0" marL="0">
              <a:buNone/>
            </a:pPr>
            <a:r>
              <a:rPr lang="en-US" sz="1700" b="1" dirty="0">
                <a:solidFill>
                  <a:srgbClr val="E8833A"/>
                </a:solidFill>
                <a:latin typeface="Cambria" pitchFamily="34" charset="0"/>
                <a:ea typeface="Cambria" pitchFamily="34" charset="-122"/>
                <a:cs typeface="Cambria" pitchFamily="34" charset="-120"/>
              </a:rPr>
              <a:t>0.30 / 0.39 / 0.39 / 0.36</a:t>
            </a:r>
            <a:endParaRPr lang="en-US" sz="1700" dirty="0"/>
          </a:p>
        </p:txBody>
      </p:sp>
      <p:sp>
        <p:nvSpPr>
          <p:cNvPr id="20" name="Text 18"/>
          <p:cNvSpPr txBox="1"/>
          <p:nvPr/>
        </p:nvSpPr>
        <p:spPr>
          <a:xfrm>
            <a:off x="6263640" y="3703320"/>
            <a:ext cx="2377440" cy="310896"/>
          </a:xfrm>
          <a:prstGeom prst="rect">
            <a:avLst/>
          </a:prstGeom>
          <a:noFill/>
          <a:ln/>
        </p:spPr>
        <p:txBody>
          <a:bodyPr wrap="square" lIns="0" tIns="0" rIns="0" bIns="0" rtlCol="0" anchor="ctr"/>
          <a:lstStyle/>
          <a:p>
            <a:pPr indent="0" marL="0">
              <a:buNone/>
            </a:pPr>
            <a:r>
              <a:rPr lang="en-US" sz="1150" dirty="0">
                <a:solidFill>
                  <a:srgbClr val="C9D2E3"/>
                </a:solidFill>
                <a:latin typeface="Calibri" pitchFamily="34" charset="0"/>
                <a:ea typeface="Calibri" pitchFamily="34" charset="-122"/>
                <a:cs typeface="Calibri" pitchFamily="34" charset="-120"/>
              </a:rPr>
              <a:t>val, macro-recall</a:t>
            </a:r>
            <a:endParaRPr lang="en-US" sz="1150" dirty="0"/>
          </a:p>
        </p:txBody>
      </p:sp>
      <p:sp>
        <p:nvSpPr>
          <p:cNvPr id="21" name="Text 19"/>
          <p:cNvSpPr txBox="1"/>
          <p:nvPr/>
        </p:nvSpPr>
        <p:spPr>
          <a:xfrm>
            <a:off x="8778240" y="3703320"/>
            <a:ext cx="2743200" cy="310896"/>
          </a:xfrm>
          <a:prstGeom prst="rect">
            <a:avLst/>
          </a:prstGeom>
          <a:noFill/>
          <a:ln/>
        </p:spPr>
        <p:txBody>
          <a:bodyPr wrap="square" lIns="0" tIns="0" rIns="0" bIns="0" rtlCol="0" anchor="ctr"/>
          <a:lstStyle/>
          <a:p>
            <a:pPr indent="0" marL="0">
              <a:buNone/>
            </a:pPr>
            <a:r>
              <a:rPr lang="en-US" sz="1150" i="1" dirty="0">
                <a:solidFill>
                  <a:srgbClr val="E8833A"/>
                </a:solidFill>
                <a:latin typeface="Calibri" pitchFamily="34" charset="0"/>
                <a:ea typeface="Calibri" pitchFamily="34" charset="-122"/>
                <a:cs typeface="Calibri" pitchFamily="34" charset="-120"/>
              </a:rPr>
              <a:t>was: hard-coded 0.5</a:t>
            </a:r>
            <a:endParaRPr lang="en-US" sz="1150" dirty="0"/>
          </a:p>
        </p:txBody>
      </p:sp>
      <p:sp>
        <p:nvSpPr>
          <p:cNvPr id="22" name="Shape 20"/>
          <p:cNvSpPr/>
          <p:nvPr/>
        </p:nvSpPr>
        <p:spPr>
          <a:xfrm>
            <a:off x="548640" y="4379976"/>
            <a:ext cx="11064240" cy="749808"/>
          </a:xfrm>
          <a:prstGeom prst="roundRect">
            <a:avLst>
              <a:gd name="adj" fmla="val 4878"/>
            </a:avLst>
          </a:prstGeom>
          <a:solidFill>
            <a:srgbClr val="1E2749"/>
          </a:solidFill>
          <a:ln/>
        </p:spPr>
      </p:sp>
      <p:sp>
        <p:nvSpPr>
          <p:cNvPr id="23" name="Text 21"/>
          <p:cNvSpPr txBox="1"/>
          <p:nvPr/>
        </p:nvSpPr>
        <p:spPr>
          <a:xfrm>
            <a:off x="822960" y="4462272"/>
            <a:ext cx="2103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Lesion detection</a:t>
            </a:r>
            <a:endParaRPr lang="en-US" sz="1350" dirty="0"/>
          </a:p>
        </p:txBody>
      </p:sp>
      <p:sp>
        <p:nvSpPr>
          <p:cNvPr id="24" name="Text 22"/>
          <p:cNvSpPr txBox="1"/>
          <p:nvPr/>
        </p:nvSpPr>
        <p:spPr>
          <a:xfrm>
            <a:off x="822960" y="4773168"/>
            <a:ext cx="2103120" cy="256032"/>
          </a:xfrm>
          <a:prstGeom prst="rect">
            <a:avLst/>
          </a:prstGeom>
          <a:noFill/>
          <a:ln/>
        </p:spPr>
        <p:txBody>
          <a:bodyPr wrap="square" lIns="0" tIns="0" rIns="0" bIns="0" rtlCol="0" anchor="ctr"/>
          <a:lstStyle/>
          <a:p>
            <a:pPr indent="0" marL="0">
              <a:buNone/>
            </a:pPr>
            <a:r>
              <a:rPr lang="en-US" sz="1050" dirty="0">
                <a:solidFill>
                  <a:srgbClr val="8894AC"/>
                </a:solidFill>
                <a:latin typeface="Calibri" pitchFamily="34" charset="0"/>
                <a:ea typeface="Calibri" pitchFamily="34" charset="-122"/>
                <a:cs typeface="Calibri" pitchFamily="34" charset="-120"/>
              </a:rPr>
              <a:t>per lesion class</a:t>
            </a:r>
            <a:endParaRPr lang="en-US" sz="1050" dirty="0"/>
          </a:p>
        </p:txBody>
      </p:sp>
      <p:sp>
        <p:nvSpPr>
          <p:cNvPr id="25" name="Text 23"/>
          <p:cNvSpPr txBox="1"/>
          <p:nvPr/>
        </p:nvSpPr>
        <p:spPr>
          <a:xfrm>
            <a:off x="3063240" y="4562856"/>
            <a:ext cx="3017520" cy="384048"/>
          </a:xfrm>
          <a:prstGeom prst="rect">
            <a:avLst/>
          </a:prstGeom>
          <a:noFill/>
          <a:ln/>
        </p:spPr>
        <p:txBody>
          <a:bodyPr wrap="square" lIns="0" tIns="0" rIns="0" bIns="0" rtlCol="0" anchor="ctr"/>
          <a:lstStyle/>
          <a:p>
            <a:pPr indent="0" marL="0">
              <a:buNone/>
            </a:pPr>
            <a:r>
              <a:rPr lang="en-US" sz="1700" b="1" dirty="0">
                <a:solidFill>
                  <a:srgbClr val="E8833A"/>
                </a:solidFill>
                <a:latin typeface="Cambria" pitchFamily="34" charset="0"/>
                <a:ea typeface="Cambria" pitchFamily="34" charset="-122"/>
                <a:cs typeface="Cambria" pitchFamily="34" charset="-120"/>
              </a:rPr>
              <a:t>0.60 – 0.95</a:t>
            </a:r>
            <a:endParaRPr lang="en-US" sz="1700" dirty="0"/>
          </a:p>
        </p:txBody>
      </p:sp>
      <p:sp>
        <p:nvSpPr>
          <p:cNvPr id="26" name="Text 24"/>
          <p:cNvSpPr txBox="1"/>
          <p:nvPr/>
        </p:nvSpPr>
        <p:spPr>
          <a:xfrm>
            <a:off x="6263640" y="4599432"/>
            <a:ext cx="2377440" cy="310896"/>
          </a:xfrm>
          <a:prstGeom prst="rect">
            <a:avLst/>
          </a:prstGeom>
          <a:noFill/>
          <a:ln/>
        </p:spPr>
        <p:txBody>
          <a:bodyPr wrap="square" lIns="0" tIns="0" rIns="0" bIns="0" rtlCol="0" anchor="ctr"/>
          <a:lstStyle/>
          <a:p>
            <a:pPr indent="0" marL="0">
              <a:buNone/>
            </a:pPr>
            <a:r>
              <a:rPr lang="en-US" sz="1150" dirty="0">
                <a:solidFill>
                  <a:srgbClr val="C9D2E3"/>
                </a:solidFill>
                <a:latin typeface="Calibri" pitchFamily="34" charset="0"/>
                <a:ea typeface="Calibri" pitchFamily="34" charset="-122"/>
                <a:cs typeface="Calibri" pitchFamily="34" charset="-120"/>
              </a:rPr>
              <a:t>held-out IDRiD, F1</a:t>
            </a:r>
            <a:endParaRPr lang="en-US" sz="1150" dirty="0"/>
          </a:p>
        </p:txBody>
      </p:sp>
      <p:sp>
        <p:nvSpPr>
          <p:cNvPr id="27" name="Text 25"/>
          <p:cNvSpPr txBox="1"/>
          <p:nvPr/>
        </p:nvSpPr>
        <p:spPr>
          <a:xfrm>
            <a:off x="8778240" y="4599432"/>
            <a:ext cx="2743200" cy="310896"/>
          </a:xfrm>
          <a:prstGeom prst="rect">
            <a:avLst/>
          </a:prstGeom>
          <a:noFill/>
          <a:ln/>
        </p:spPr>
        <p:txBody>
          <a:bodyPr wrap="square" lIns="0" tIns="0" rIns="0" bIns="0" rtlCol="0" anchor="ctr"/>
          <a:lstStyle/>
          <a:p>
            <a:pPr indent="0" marL="0">
              <a:buNone/>
            </a:pPr>
            <a:r>
              <a:rPr lang="en-US" sz="1150" i="1" dirty="0">
                <a:solidFill>
                  <a:srgbClr val="E8833A"/>
                </a:solidFill>
                <a:latin typeface="Calibri" pitchFamily="34" charset="0"/>
                <a:ea typeface="Calibri" pitchFamily="34" charset="-122"/>
                <a:cs typeface="Calibri" pitchFamily="34" charset="-120"/>
              </a:rPr>
              <a:t>was: blanket 0.5</a:t>
            </a:r>
            <a:endParaRPr lang="en-US" sz="1150" dirty="0"/>
          </a:p>
        </p:txBody>
      </p:sp>
      <p:sp>
        <p:nvSpPr>
          <p:cNvPr id="28" name="Shape 26"/>
          <p:cNvSpPr/>
          <p:nvPr/>
        </p:nvSpPr>
        <p:spPr>
          <a:xfrm>
            <a:off x="548640" y="5276088"/>
            <a:ext cx="11064240" cy="749808"/>
          </a:xfrm>
          <a:prstGeom prst="roundRect">
            <a:avLst>
              <a:gd name="adj" fmla="val 4878"/>
            </a:avLst>
          </a:prstGeom>
          <a:solidFill>
            <a:srgbClr val="1E2749"/>
          </a:solidFill>
          <a:ln/>
        </p:spPr>
      </p:sp>
      <p:sp>
        <p:nvSpPr>
          <p:cNvPr id="29" name="Text 27"/>
          <p:cNvSpPr txBox="1"/>
          <p:nvPr/>
        </p:nvSpPr>
        <p:spPr>
          <a:xfrm>
            <a:off x="822960" y="5358384"/>
            <a:ext cx="210312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Calibration</a:t>
            </a:r>
            <a:endParaRPr lang="en-US" sz="1350" dirty="0"/>
          </a:p>
        </p:txBody>
      </p:sp>
      <p:sp>
        <p:nvSpPr>
          <p:cNvPr id="30" name="Text 28"/>
          <p:cNvSpPr txBox="1"/>
          <p:nvPr/>
        </p:nvSpPr>
        <p:spPr>
          <a:xfrm>
            <a:off x="822960" y="5669280"/>
            <a:ext cx="2103120" cy="256032"/>
          </a:xfrm>
          <a:prstGeom prst="rect">
            <a:avLst/>
          </a:prstGeom>
          <a:noFill/>
          <a:ln/>
        </p:spPr>
        <p:txBody>
          <a:bodyPr wrap="square" lIns="0" tIns="0" rIns="0" bIns="0" rtlCol="0" anchor="ctr"/>
          <a:lstStyle/>
          <a:p>
            <a:pPr indent="0" marL="0">
              <a:buNone/>
            </a:pPr>
            <a:r>
              <a:rPr lang="en-US" sz="1050" dirty="0">
                <a:solidFill>
                  <a:srgbClr val="8894AC"/>
                </a:solidFill>
                <a:latin typeface="Calibri" pitchFamily="34" charset="0"/>
                <a:ea typeface="Calibri" pitchFamily="34" charset="-122"/>
                <a:cs typeface="Calibri" pitchFamily="34" charset="-120"/>
              </a:rPr>
              <a:t>+ isotonic, tie-broken</a:t>
            </a:r>
            <a:endParaRPr lang="en-US" sz="1050" dirty="0"/>
          </a:p>
        </p:txBody>
      </p:sp>
      <p:sp>
        <p:nvSpPr>
          <p:cNvPr id="31" name="Text 29"/>
          <p:cNvSpPr txBox="1"/>
          <p:nvPr/>
        </p:nvSpPr>
        <p:spPr>
          <a:xfrm>
            <a:off x="3063240" y="5458968"/>
            <a:ext cx="3017520" cy="384048"/>
          </a:xfrm>
          <a:prstGeom prst="rect">
            <a:avLst/>
          </a:prstGeom>
          <a:noFill/>
          <a:ln/>
        </p:spPr>
        <p:txBody>
          <a:bodyPr wrap="square" lIns="0" tIns="0" rIns="0" bIns="0" rtlCol="0" anchor="ctr"/>
          <a:lstStyle/>
          <a:p>
            <a:pPr indent="0" marL="0">
              <a:buNone/>
            </a:pPr>
            <a:r>
              <a:rPr lang="en-US" sz="1700" b="1" dirty="0">
                <a:solidFill>
                  <a:srgbClr val="E8833A"/>
                </a:solidFill>
                <a:latin typeface="Cambria" pitchFamily="34" charset="0"/>
                <a:ea typeface="Cambria" pitchFamily="34" charset="-122"/>
                <a:cs typeface="Cambria" pitchFamily="34" charset="-120"/>
              </a:rPr>
              <a:t>T = 2.708</a:t>
            </a:r>
            <a:endParaRPr lang="en-US" sz="1700" dirty="0"/>
          </a:p>
        </p:txBody>
      </p:sp>
      <p:sp>
        <p:nvSpPr>
          <p:cNvPr id="32" name="Text 30"/>
          <p:cNvSpPr txBox="1"/>
          <p:nvPr/>
        </p:nvSpPr>
        <p:spPr>
          <a:xfrm>
            <a:off x="6263640" y="5495544"/>
            <a:ext cx="2377440" cy="310896"/>
          </a:xfrm>
          <a:prstGeom prst="rect">
            <a:avLst/>
          </a:prstGeom>
          <a:noFill/>
          <a:ln/>
        </p:spPr>
        <p:txBody>
          <a:bodyPr wrap="square" lIns="0" tIns="0" rIns="0" bIns="0" rtlCol="0" anchor="ctr"/>
          <a:lstStyle/>
          <a:p>
            <a:pPr indent="0" marL="0">
              <a:buNone/>
            </a:pPr>
            <a:r>
              <a:rPr lang="en-US" sz="1150" dirty="0">
                <a:solidFill>
                  <a:srgbClr val="C9D2E3"/>
                </a:solidFill>
                <a:latin typeface="Calibri" pitchFamily="34" charset="0"/>
                <a:ea typeface="Calibri" pitchFamily="34" charset="-122"/>
                <a:cs typeface="Calibri" pitchFamily="34" charset="-120"/>
              </a:rPr>
              <a:t>val, out-of-fold</a:t>
            </a:r>
            <a:endParaRPr lang="en-US" sz="1150" dirty="0"/>
          </a:p>
        </p:txBody>
      </p:sp>
      <p:sp>
        <p:nvSpPr>
          <p:cNvPr id="33" name="Text 31"/>
          <p:cNvSpPr txBox="1"/>
          <p:nvPr/>
        </p:nvSpPr>
        <p:spPr>
          <a:xfrm>
            <a:off x="8778240" y="5495544"/>
            <a:ext cx="2743200" cy="310896"/>
          </a:xfrm>
          <a:prstGeom prst="rect">
            <a:avLst/>
          </a:prstGeom>
          <a:noFill/>
          <a:ln/>
        </p:spPr>
        <p:txBody>
          <a:bodyPr wrap="square" lIns="0" tIns="0" rIns="0" bIns="0" rtlCol="0" anchor="ctr"/>
          <a:lstStyle/>
          <a:p>
            <a:pPr indent="0" marL="0">
              <a:buNone/>
            </a:pPr>
            <a:r>
              <a:rPr lang="en-US" sz="1150" i="1" dirty="0">
                <a:solidFill>
                  <a:srgbClr val="5B6784"/>
                </a:solidFill>
                <a:latin typeface="Calibri" pitchFamily="34" charset="0"/>
                <a:ea typeface="Calibri" pitchFamily="34" charset="-122"/>
                <a:cs typeface="Calibri" pitchFamily="34" charset="-120"/>
              </a:rPr>
              <a:t>—</a:t>
            </a:r>
            <a:endParaRPr lang="en-US" sz="1150" dirty="0"/>
          </a:p>
        </p:txBody>
      </p:sp>
      <p:sp>
        <p:nvSpPr>
          <p:cNvPr id="34" name="Text 32"/>
          <p:cNvSpPr txBox="1"/>
          <p:nvPr/>
        </p:nvSpPr>
        <p:spPr>
          <a:xfrm>
            <a:off x="548640" y="6263640"/>
            <a:ext cx="11064240" cy="411480"/>
          </a:xfrm>
          <a:prstGeom prst="rect">
            <a:avLst/>
          </a:prstGeom>
          <a:noFill/>
          <a:ln/>
        </p:spPr>
        <p:txBody>
          <a:bodyPr wrap="square" lIns="0" tIns="0" rIns="0" bIns="0" rtlCol="0" anchor="ctr"/>
          <a:lstStyle/>
          <a:p>
            <a:pPr indent="0" marL="0">
              <a:buNone/>
            </a:pPr>
            <a:r>
              <a:rPr lang="en-US" sz="1250" i="1" dirty="0">
                <a:solidFill>
                  <a:srgbClr val="9AA5B8"/>
                </a:solidFill>
                <a:latin typeface="Calibri" pitchFamily="34" charset="0"/>
                <a:ea typeface="Calibri" pitchFamily="34" charset="-122"/>
                <a:cs typeface="Calibri" pitchFamily="34" charset="-120"/>
              </a:rPr>
              <a:t>Fitting the urgency cut-point took sight-threatening eyes reaching the expedited queue from 56/110 to 86/110 — with the screening sensitivity and specificity unchanged to four decimal places.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Measured, internal and zero-shot</a:t>
            </a:r>
            <a:endParaRPr lang="en-US" sz="3200" dirty="0"/>
          </a:p>
        </p:txBody>
      </p:sp>
      <p:sp>
        <p:nvSpPr>
          <p:cNvPr id="3" name="Text 1"/>
          <p:cNvSpPr txBox="1"/>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Messidor-2: different country, different cameras, three-specialist adjudicated grades, nothing fitted on it</a:t>
            </a:r>
            <a:endParaRPr lang="en-US" sz="1400" dirty="0"/>
          </a:p>
        </p:txBody>
      </p:sp>
      <p:graphicFrame>
        <p:nvGraphicFramePr>
          <p:cNvPr id="4" name="Chart 0" descr=""/>
          <p:cNvGraphicFramePr/>
          <p:nvPr/>
        </p:nvGraphicFramePr>
        <p:xfrm>
          <a:off x="502920" y="1645920"/>
          <a:ext cx="676656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737360"/>
            <a:ext cx="3977640" cy="1243584"/>
          </a:xfrm>
          <a:prstGeom prst="roundRect">
            <a:avLst>
              <a:gd name="adj" fmla="val 3676"/>
            </a:avLst>
          </a:prstGeom>
          <a:solidFill>
            <a:srgbClr val="F3F5FA"/>
          </a:solidFill>
          <a:ln/>
        </p:spPr>
      </p:sp>
      <p:sp>
        <p:nvSpPr>
          <p:cNvPr id="6" name="Text 3"/>
          <p:cNvSpPr txBox="1"/>
          <p:nvPr/>
        </p:nvSpPr>
        <p:spPr>
          <a:xfrm>
            <a:off x="7863840" y="1892808"/>
            <a:ext cx="1554480" cy="548640"/>
          </a:xfrm>
          <a:prstGeom prst="rect">
            <a:avLst/>
          </a:prstGeom>
          <a:noFill/>
          <a:ln/>
        </p:spPr>
        <p:txBody>
          <a:bodyPr wrap="square" lIns="0" tIns="0" rIns="0" bIns="0" rtlCol="0" anchor="ctr"/>
          <a:lstStyle/>
          <a:p>
            <a:pPr indent="0" marL="0">
              <a:buNone/>
            </a:pPr>
            <a:r>
              <a:rPr lang="en-US" sz="2600" b="1" dirty="0">
                <a:solidFill>
                  <a:srgbClr val="1E9E5A"/>
                </a:solidFill>
                <a:latin typeface="Cambria" pitchFamily="34" charset="0"/>
                <a:ea typeface="Cambria" pitchFamily="34" charset="-122"/>
                <a:cs typeface="Cambria" pitchFamily="34" charset="-120"/>
              </a:rPr>
              <a:t>97.3%</a:t>
            </a:r>
            <a:endParaRPr lang="en-US" sz="2600" dirty="0"/>
          </a:p>
        </p:txBody>
      </p:sp>
      <p:sp>
        <p:nvSpPr>
          <p:cNvPr id="7" name="Text 4"/>
          <p:cNvSpPr txBox="1"/>
          <p:nvPr/>
        </p:nvSpPr>
        <p:spPr>
          <a:xfrm>
            <a:off x="9418320" y="1956816"/>
            <a:ext cx="2011680" cy="82296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sight-threatening caught</a:t>
            </a:r>
            <a:endParaRPr lang="en-US" sz="1150" dirty="0"/>
          </a:p>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zero-shot (107/110)</a:t>
            </a:r>
            <a:endParaRPr lang="en-US" sz="1150" dirty="0"/>
          </a:p>
        </p:txBody>
      </p:sp>
      <p:sp>
        <p:nvSpPr>
          <p:cNvPr id="8" name="Shape 5"/>
          <p:cNvSpPr/>
          <p:nvPr/>
        </p:nvSpPr>
        <p:spPr>
          <a:xfrm>
            <a:off x="7635240" y="3182112"/>
            <a:ext cx="3977640" cy="1243584"/>
          </a:xfrm>
          <a:prstGeom prst="roundRect">
            <a:avLst>
              <a:gd name="adj" fmla="val 3676"/>
            </a:avLst>
          </a:prstGeom>
          <a:solidFill>
            <a:srgbClr val="F3F5FA"/>
          </a:solidFill>
          <a:ln/>
        </p:spPr>
      </p:sp>
      <p:sp>
        <p:nvSpPr>
          <p:cNvPr id="9" name="Text 6"/>
          <p:cNvSpPr txBox="1"/>
          <p:nvPr/>
        </p:nvSpPr>
        <p:spPr>
          <a:xfrm>
            <a:off x="7863840" y="3337560"/>
            <a:ext cx="1554480" cy="548640"/>
          </a:xfrm>
          <a:prstGeom prst="rect">
            <a:avLst/>
          </a:prstGeom>
          <a:noFill/>
          <a:ln/>
        </p:spPr>
        <p:txBody>
          <a:bodyPr wrap="square" lIns="0" tIns="0" rIns="0" bIns="0" rtlCol="0" anchor="ctr"/>
          <a:lstStyle/>
          <a:p>
            <a:pPr indent="0" marL="0">
              <a:buNone/>
            </a:pPr>
            <a:r>
              <a:rPr lang="en-US" sz="2600" b="1" dirty="0">
                <a:solidFill>
                  <a:srgbClr val="2D9CDB"/>
                </a:solidFill>
                <a:latin typeface="Cambria" pitchFamily="34" charset="0"/>
                <a:ea typeface="Cambria" pitchFamily="34" charset="-122"/>
                <a:cs typeface="Cambria" pitchFamily="34" charset="-120"/>
              </a:rPr>
              <a:t>24.3%</a:t>
            </a:r>
            <a:endParaRPr lang="en-US" sz="2600" dirty="0"/>
          </a:p>
        </p:txBody>
      </p:sp>
      <p:sp>
        <p:nvSpPr>
          <p:cNvPr id="10" name="Text 7"/>
          <p:cNvSpPr txBox="1"/>
          <p:nvPr/>
        </p:nvSpPr>
        <p:spPr>
          <a:xfrm>
            <a:off x="9418320" y="3401568"/>
            <a:ext cx="2011680" cy="82296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of patients queued</a:t>
            </a:r>
            <a:endParaRPr lang="en-US" sz="1150" dirty="0"/>
          </a:p>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for review</a:t>
            </a:r>
            <a:endParaRPr lang="en-US" sz="1150" dirty="0"/>
          </a:p>
        </p:txBody>
      </p:sp>
      <p:sp>
        <p:nvSpPr>
          <p:cNvPr id="11" name="Shape 8"/>
          <p:cNvSpPr/>
          <p:nvPr/>
        </p:nvSpPr>
        <p:spPr>
          <a:xfrm>
            <a:off x="7635240" y="4626864"/>
            <a:ext cx="3977640" cy="1243584"/>
          </a:xfrm>
          <a:prstGeom prst="roundRect">
            <a:avLst>
              <a:gd name="adj" fmla="val 3676"/>
            </a:avLst>
          </a:prstGeom>
          <a:solidFill>
            <a:srgbClr val="F3F5FA"/>
          </a:solidFill>
          <a:ln/>
        </p:spPr>
      </p:sp>
      <p:sp>
        <p:nvSpPr>
          <p:cNvPr id="12" name="Text 9"/>
          <p:cNvSpPr txBox="1"/>
          <p:nvPr/>
        </p:nvSpPr>
        <p:spPr>
          <a:xfrm>
            <a:off x="7863840" y="4782312"/>
            <a:ext cx="1554480" cy="548640"/>
          </a:xfrm>
          <a:prstGeom prst="rect">
            <a:avLst/>
          </a:prstGeom>
          <a:noFill/>
          <a:ln/>
        </p:spPr>
        <p:txBody>
          <a:bodyPr wrap="square" lIns="0" tIns="0" rIns="0" bIns="0" rtlCol="0" anchor="ctr"/>
          <a:lstStyle/>
          <a:p>
            <a:pPr indent="0" marL="0">
              <a:buNone/>
            </a:pPr>
            <a:r>
              <a:rPr lang="en-US" sz="2600" b="1" dirty="0">
                <a:solidFill>
                  <a:srgbClr val="E8833A"/>
                </a:solidFill>
                <a:latin typeface="Cambria" pitchFamily="34" charset="0"/>
                <a:ea typeface="Cambria" pitchFamily="34" charset="-122"/>
                <a:cs typeface="Cambria" pitchFamily="34" charset="-120"/>
              </a:rPr>
              <a:t>91.4%</a:t>
            </a:r>
            <a:endParaRPr lang="en-US" sz="2600" dirty="0"/>
          </a:p>
        </p:txBody>
      </p:sp>
      <p:sp>
        <p:nvSpPr>
          <p:cNvPr id="13" name="Text 10"/>
          <p:cNvSpPr txBox="1"/>
          <p:nvPr/>
        </p:nvSpPr>
        <p:spPr>
          <a:xfrm>
            <a:off x="9418320" y="4846320"/>
            <a:ext cx="2011680" cy="82296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graded within one</a:t>
            </a:r>
            <a:endParaRPr lang="en-US" sz="1150" dirty="0"/>
          </a:p>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ICDR level</a:t>
            </a:r>
            <a:endParaRPr lang="en-US" sz="1150" dirty="0"/>
          </a:p>
        </p:txBody>
      </p:sp>
      <p:sp>
        <p:nvSpPr>
          <p:cNvPr id="14" name="Text 11"/>
          <p:cNvSpPr txBox="1"/>
          <p:nvPr/>
        </p:nvSpPr>
        <p:spPr>
          <a:xfrm>
            <a:off x="7635240" y="6080760"/>
            <a:ext cx="3977640" cy="640080"/>
          </a:xfrm>
          <a:prstGeom prst="rect">
            <a:avLst/>
          </a:prstGeom>
          <a:noFill/>
          <a:ln/>
        </p:spPr>
        <p:txBody>
          <a:bodyPr wrap="square" lIns="0" tIns="0" rIns="0" bIns="0" rtlCol="0" anchor="ctr"/>
          <a:lstStyle/>
          <a:p>
            <a:pPr indent="0" marL="0">
              <a:lnSpc>
                <a:spcPts val="1400"/>
              </a:lnSpc>
              <a:buNone/>
            </a:pPr>
            <a:r>
              <a:rPr lang="en-US" sz="1050" i="1" dirty="0">
                <a:solidFill>
                  <a:srgbClr val="6B7280"/>
                </a:solidFill>
                <a:latin typeface="Calibri" pitchFamily="34" charset="0"/>
                <a:ea typeface="Calibri" pitchFamily="34" charset="-122"/>
                <a:cs typeface="Calibri" pitchFamily="34" charset="-120"/>
              </a:rPr>
              <a:t>Aggregate external sensitivity is 0.707 because moderate NPDR is 76% of referable cases and Messidor-2 grades it more strictly than APTOS — a label-definition gap, not a perception failure.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Why the image-only arm is deployed</a:t>
            </a:r>
            <a:endParaRPr lang="en-US" sz="3200" dirty="0"/>
          </a:p>
        </p:txBody>
      </p:sp>
      <p:sp>
        <p:nvSpPr>
          <p:cNvPr id="3" name="Text 1"/>
          <p:cNvSpPr txBox="1"/>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Four arms, each with its own temperature and threshold fitted on val, compared by paired DeLong test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914400"/>
        </p:xfrm>
        <a:graphic>
          <a:graphicData uri="http://schemas.openxmlformats.org/drawingml/2006/table">
            <a:tbl>
              <a:tblPr/>
              <a:tblGrid>
                <a:gridCol w="2103120"/>
                <a:gridCol w="1005840"/>
                <a:gridCol w="868680"/>
                <a:gridCol w="868680"/>
                <a:gridCol w="868680"/>
                <a:gridCol w="960120"/>
              </a:tblGrid>
              <a:tr h="40233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Arm</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141B3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AUC</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141B3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Sens</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141B3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Spec</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141B3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QWK</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141B3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Targets</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141B34"/>
                    </a:solidFill>
                  </a:tcPr>
                </a:tc>
              </a:tr>
              <a:tr h="402336">
                <a:tc>
                  <a:txBody>
                    <a:bodyPr/>
                    <a:lstStyle/>
                    <a:p>
                      <a:pPr indent="0" marL="0">
                        <a:buNone/>
                      </a:pPr>
                      <a:r>
                        <a:rPr lang="en-US" sz="1250" b="1" dirty="0">
                          <a:solidFill>
                            <a:srgbClr val="141B34"/>
                          </a:solidFill>
                          <a:latin typeface="Calibri" pitchFamily="34" charset="0"/>
                          <a:ea typeface="Calibri" pitchFamily="34" charset="-122"/>
                          <a:cs typeface="Calibri" pitchFamily="34" charset="-120"/>
                        </a:rPr>
                        <a:t>cnn  (deployed)</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1B34"/>
                          </a:solidFill>
                          <a:latin typeface="Calibri" pitchFamily="34" charset="0"/>
                          <a:ea typeface="Calibri" pitchFamily="34" charset="-122"/>
                          <a:cs typeface="Calibri" pitchFamily="34" charset="-120"/>
                        </a:rPr>
                        <a:t>0.9883</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0.986</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0.873</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0.894</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9E5A"/>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141B34"/>
                          </a:solidFill>
                          <a:latin typeface="Calibri" pitchFamily="34" charset="0"/>
                          <a:ea typeface="Calibri" pitchFamily="34" charset="-122"/>
                          <a:cs typeface="Calibri" pitchFamily="34" charset="-120"/>
                        </a:rPr>
                        <a:t>fusion</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1B34"/>
                          </a:solidFill>
                          <a:latin typeface="Calibri" pitchFamily="34" charset="0"/>
                          <a:ea typeface="Calibri" pitchFamily="34" charset="-122"/>
                          <a:cs typeface="Calibri" pitchFamily="34" charset="-120"/>
                        </a:rPr>
                        <a:t>0.9850</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0.989</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0.882</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0.882</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9E5A"/>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141B34"/>
                          </a:solidFill>
                          <a:latin typeface="Calibri" pitchFamily="34" charset="0"/>
                          <a:ea typeface="Calibri" pitchFamily="34" charset="-122"/>
                          <a:cs typeface="Calibri" pitchFamily="34" charset="-120"/>
                        </a:rPr>
                        <a:t>clinical_only</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1B34"/>
                          </a:solidFill>
                          <a:latin typeface="Calibri" pitchFamily="34" charset="0"/>
                          <a:ea typeface="Calibri" pitchFamily="34" charset="-122"/>
                          <a:cs typeface="Calibri" pitchFamily="34" charset="-120"/>
                        </a:rPr>
                        <a:t>0.9272</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0.880</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0.813</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0.690</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D64545"/>
                          </a:solidFill>
                          <a:latin typeface="Calibri" pitchFamily="34" charset="0"/>
                          <a:ea typeface="Calibri" pitchFamily="34" charset="-122"/>
                          <a:cs typeface="Calibri" pitchFamily="34" charset="-120"/>
                        </a:rPr>
                        <a:t>fail</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141B34"/>
                          </a:solidFill>
                          <a:latin typeface="Calibri" pitchFamily="34" charset="0"/>
                          <a:ea typeface="Calibri" pitchFamily="34" charset="-122"/>
                          <a:cs typeface="Calibri" pitchFamily="34" charset="-120"/>
                        </a:rPr>
                        <a:t>rule_based</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1B34"/>
                          </a:solidFill>
                          <a:latin typeface="Calibri" pitchFamily="34" charset="0"/>
                          <a:ea typeface="Calibri" pitchFamily="34" charset="-122"/>
                          <a:cs typeface="Calibri" pitchFamily="34" charset="-120"/>
                        </a:rPr>
                        <a:t>0.9115</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1.000</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0.075</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280"/>
                          </a:solidFill>
                          <a:latin typeface="Calibri" pitchFamily="34" charset="0"/>
                          <a:ea typeface="Calibri" pitchFamily="34" charset="-122"/>
                          <a:cs typeface="Calibri" pitchFamily="34" charset="-120"/>
                        </a:rPr>
                        <a:t>0.000</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D64545"/>
                          </a:solidFill>
                          <a:latin typeface="Calibri" pitchFamily="34" charset="0"/>
                          <a:ea typeface="Calibri" pitchFamily="34" charset="-122"/>
                          <a:cs typeface="Calibri" pitchFamily="34" charset="-120"/>
                        </a:rPr>
                        <a:t>fail</a:t>
                      </a:r>
                      <a:endParaRPr lang="en-US" sz="1250" dirty="0">
                        <a:latin typeface="Calibri" charset="0"/>
                        <a:ea typeface="Calibri" charset="0"/>
                        <a:cs typeface="Calibri" charset="0"/>
                      </a:endParaRPr>
                    </a:p>
                  </a:txBody>
                  <a:tcPr marL="91440" marR="91440" marT="45720" marB="45720" anchor="ctr">
                    <a:lnL w="12700" cap="flat" cmpd="sng" algn="ctr">
                      <a:solidFill>
                        <a:srgbClr val="E2E6EF"/>
                      </a:solidFill>
                      <a:prstDash val="solid"/>
                      <a:round/>
                      <a:headEnd type="none" w="med" len="med"/>
                      <a:tailEnd type="none" w="med" len="med"/>
                    </a:lnL>
                    <a:lnR w="12700" cap="flat" cmpd="sng" algn="ctr">
                      <a:solidFill>
                        <a:srgbClr val="E2E6EF"/>
                      </a:solidFill>
                      <a:prstDash val="solid"/>
                      <a:round/>
                      <a:headEnd type="none" w="med" len="med"/>
                      <a:tailEnd type="none" w="med" len="med"/>
                    </a:lnR>
                    <a:lnT w="12700" cap="flat" cmpd="sng" algn="ctr">
                      <a:solidFill>
                        <a:srgbClr val="E2E6EF"/>
                      </a:solidFill>
                      <a:prstDash val="solid"/>
                      <a:round/>
                      <a:headEnd type="none" w="med" len="med"/>
                      <a:tailEnd type="none" w="med" len="med"/>
                    </a:lnT>
                    <a:lnB w="12700" cap="flat" cmpd="sng" algn="ctr">
                      <a:solidFill>
                        <a:srgbClr val="E2E6E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3931920"/>
            <a:ext cx="6675120" cy="347472"/>
          </a:xfrm>
          <a:prstGeom prst="rect">
            <a:avLst/>
          </a:prstGeom>
          <a:noFill/>
          <a:ln/>
        </p:spPr>
        <p:txBody>
          <a:bodyPr wrap="square" lIns="0" tIns="0" rIns="0" bIns="0" rtlCol="0" anchor="ctr"/>
          <a:lstStyle/>
          <a:p>
            <a:pPr indent="0" marL="0">
              <a:buNone/>
            </a:pPr>
            <a:r>
              <a:rPr lang="en-US" sz="1400" b="1" dirty="0">
                <a:solidFill>
                  <a:srgbClr val="141B34"/>
                </a:solidFill>
                <a:latin typeface="Calibri" pitchFamily="34" charset="0"/>
                <a:ea typeface="Calibri" pitchFamily="34" charset="-122"/>
                <a:cs typeface="Calibri" pitchFamily="34" charset="-120"/>
              </a:rPr>
              <a:t>The rule-based arm is the honest baseline</a:t>
            </a:r>
            <a:endParaRPr lang="en-US" sz="1400" dirty="0"/>
          </a:p>
        </p:txBody>
      </p:sp>
      <p:sp>
        <p:nvSpPr>
          <p:cNvPr id="6" name="Text 3"/>
          <p:cNvSpPr txBox="1"/>
          <p:nvPr/>
        </p:nvSpPr>
        <p:spPr>
          <a:xfrm>
            <a:off x="548640" y="4315968"/>
            <a:ext cx="6675120" cy="1554480"/>
          </a:xfrm>
          <a:prstGeom prst="rect">
            <a:avLst/>
          </a:prstGeom>
          <a:noFill/>
          <a:ln/>
        </p:spPr>
        <p:txBody>
          <a:bodyPr wrap="square" lIns="0" tIns="0" rIns="0" bIns="0" rtlCol="0" anchor="ctr"/>
          <a:lstStyle/>
          <a:p>
            <a:pPr indent="0" marL="0">
              <a:lnSpc>
                <a:spcPts val="1700"/>
              </a:lnSpc>
              <a:buNone/>
            </a:pPr>
            <a:r>
              <a:rPr lang="en-US" sz="1200" dirty="0">
                <a:solidFill>
                  <a:srgbClr val="6B7280"/>
                </a:solidFill>
                <a:latin typeface="Calibri" pitchFamily="34" charset="0"/>
                <a:ea typeface="Calibri" pitchFamily="34" charset="-122"/>
                <a:cs typeface="Calibri" pitchFamily="34" charset="-120"/>
              </a:rPr>
              <a:t>Classical ICDR criteria applied directly to counted lesions — the 4-2-1 rule, NV, exudate distance from fovea. At specificity 0.075 it refers essentially everyone, which is exactly the weakness in existing solutions the problem statement calls out. Better segmentation lifted it to 0.788, so the rules were never wrong; they were being fed poor lesion counts.</a:t>
            </a:r>
            <a:endParaRPr lang="en-US" sz="1200" dirty="0"/>
          </a:p>
        </p:txBody>
      </p:sp>
      <p:sp>
        <p:nvSpPr>
          <p:cNvPr id="7" name="Shape 4"/>
          <p:cNvSpPr/>
          <p:nvPr/>
        </p:nvSpPr>
        <p:spPr>
          <a:xfrm>
            <a:off x="7589520" y="1691640"/>
            <a:ext cx="4023360" cy="4160520"/>
          </a:xfrm>
          <a:prstGeom prst="roundRect">
            <a:avLst>
              <a:gd name="adj" fmla="val 1364"/>
            </a:avLst>
          </a:prstGeom>
          <a:solidFill>
            <a:srgbClr val="141B34"/>
          </a:solidFill>
          <a:ln/>
        </p:spPr>
      </p:sp>
      <p:sp>
        <p:nvSpPr>
          <p:cNvPr id="8" name="Text 5"/>
          <p:cNvSpPr txBox="1"/>
          <p:nvPr/>
        </p:nvSpPr>
        <p:spPr>
          <a:xfrm>
            <a:off x="7863840" y="1920240"/>
            <a:ext cx="3474720" cy="274320"/>
          </a:xfrm>
          <a:prstGeom prst="rect">
            <a:avLst/>
          </a:prstGeom>
          <a:noFill/>
          <a:ln/>
        </p:spPr>
        <p:txBody>
          <a:bodyPr wrap="square" lIns="0" tIns="0" rIns="0" bIns="0" rtlCol="0" anchor="ctr"/>
          <a:lstStyle/>
          <a:p>
            <a:pPr indent="0" marL="0">
              <a:buNone/>
            </a:pPr>
            <a:r>
              <a:rPr lang="en-US" sz="1050" b="1" spc="100" kern="0" dirty="0">
                <a:solidFill>
                  <a:srgbClr val="E8833A"/>
                </a:solidFill>
                <a:latin typeface="Calibri" pitchFamily="34" charset="0"/>
                <a:ea typeface="Calibri" pitchFamily="34" charset="-122"/>
                <a:cs typeface="Calibri" pitchFamily="34" charset="-120"/>
              </a:rPr>
              <a:t>PAIRED DeLONG</a:t>
            </a:r>
            <a:endParaRPr lang="en-US" sz="1050" dirty="0"/>
          </a:p>
        </p:txBody>
      </p:sp>
      <p:sp>
        <p:nvSpPr>
          <p:cNvPr id="9" name="Text 6"/>
          <p:cNvSpPr txBox="1"/>
          <p:nvPr/>
        </p:nvSpPr>
        <p:spPr>
          <a:xfrm>
            <a:off x="7863840" y="2331720"/>
            <a:ext cx="18288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vs fusion</a:t>
            </a:r>
            <a:endParaRPr lang="en-US" sz="1250" dirty="0"/>
          </a:p>
        </p:txBody>
      </p:sp>
      <p:sp>
        <p:nvSpPr>
          <p:cNvPr id="10" name="Text 7"/>
          <p:cNvSpPr txBox="1"/>
          <p:nvPr/>
        </p:nvSpPr>
        <p:spPr>
          <a:xfrm>
            <a:off x="9692640" y="2331720"/>
            <a:ext cx="914400" cy="274320"/>
          </a:xfrm>
          <a:prstGeom prst="rect">
            <a:avLst/>
          </a:prstGeom>
          <a:noFill/>
          <a:ln/>
        </p:spPr>
        <p:txBody>
          <a:bodyPr wrap="square" lIns="0" tIns="0" rIns="0" bIns="0" rtlCol="0" anchor="ctr"/>
          <a:lstStyle/>
          <a:p>
            <a:pPr algn="r" indent="0" marL="0">
              <a:buNone/>
            </a:pPr>
            <a:r>
              <a:rPr lang="en-US" sz="1250" b="1" dirty="0">
                <a:solidFill>
                  <a:srgbClr val="E8833A"/>
                </a:solidFill>
                <a:latin typeface="Calibri" pitchFamily="34" charset="0"/>
                <a:ea typeface="Calibri" pitchFamily="34" charset="-122"/>
                <a:cs typeface="Calibri" pitchFamily="34" charset="-120"/>
              </a:rPr>
              <a:t>+0.0032</a:t>
            </a:r>
            <a:endParaRPr lang="en-US" sz="1250" dirty="0"/>
          </a:p>
        </p:txBody>
      </p:sp>
      <p:sp>
        <p:nvSpPr>
          <p:cNvPr id="11" name="Text 8"/>
          <p:cNvSpPr txBox="1"/>
          <p:nvPr/>
        </p:nvSpPr>
        <p:spPr>
          <a:xfrm>
            <a:off x="7863840" y="2606040"/>
            <a:ext cx="2743200" cy="256032"/>
          </a:xfrm>
          <a:prstGeom prst="rect">
            <a:avLst/>
          </a:prstGeom>
          <a:noFill/>
          <a:ln/>
        </p:spPr>
        <p:txBody>
          <a:bodyPr wrap="square" lIns="0" tIns="0" rIns="0" bIns="0" rtlCol="0" anchor="ctr"/>
          <a:lstStyle/>
          <a:p>
            <a:pPr indent="0" marL="0">
              <a:buNone/>
            </a:pPr>
            <a:r>
              <a:rPr lang="en-US" sz="1100" dirty="0">
                <a:solidFill>
                  <a:srgbClr val="8894AC"/>
                </a:solidFill>
                <a:latin typeface="Calibri" pitchFamily="34" charset="0"/>
                <a:ea typeface="Calibri" pitchFamily="34" charset="-122"/>
                <a:cs typeface="Calibri" pitchFamily="34" charset="-120"/>
              </a:rPr>
              <a:t>p = 0.034</a:t>
            </a:r>
            <a:endParaRPr lang="en-US" sz="1100" dirty="0"/>
          </a:p>
        </p:txBody>
      </p:sp>
      <p:sp>
        <p:nvSpPr>
          <p:cNvPr id="12" name="Text 9"/>
          <p:cNvSpPr txBox="1"/>
          <p:nvPr/>
        </p:nvSpPr>
        <p:spPr>
          <a:xfrm>
            <a:off x="7863840" y="3044952"/>
            <a:ext cx="18288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vs clinical_only</a:t>
            </a:r>
            <a:endParaRPr lang="en-US" sz="1250" dirty="0"/>
          </a:p>
        </p:txBody>
      </p:sp>
      <p:sp>
        <p:nvSpPr>
          <p:cNvPr id="13" name="Text 10"/>
          <p:cNvSpPr txBox="1"/>
          <p:nvPr/>
        </p:nvSpPr>
        <p:spPr>
          <a:xfrm>
            <a:off x="9692640" y="3044952"/>
            <a:ext cx="914400" cy="274320"/>
          </a:xfrm>
          <a:prstGeom prst="rect">
            <a:avLst/>
          </a:prstGeom>
          <a:noFill/>
          <a:ln/>
        </p:spPr>
        <p:txBody>
          <a:bodyPr wrap="square" lIns="0" tIns="0" rIns="0" bIns="0" rtlCol="0" anchor="ctr"/>
          <a:lstStyle/>
          <a:p>
            <a:pPr algn="r" indent="0" marL="0">
              <a:buNone/>
            </a:pPr>
            <a:r>
              <a:rPr lang="en-US" sz="1250" b="1" dirty="0">
                <a:solidFill>
                  <a:srgbClr val="E8833A"/>
                </a:solidFill>
                <a:latin typeface="Calibri" pitchFamily="34" charset="0"/>
                <a:ea typeface="Calibri" pitchFamily="34" charset="-122"/>
                <a:cs typeface="Calibri" pitchFamily="34" charset="-120"/>
              </a:rPr>
              <a:t>+0.0610</a:t>
            </a:r>
            <a:endParaRPr lang="en-US" sz="1250" dirty="0"/>
          </a:p>
        </p:txBody>
      </p:sp>
      <p:sp>
        <p:nvSpPr>
          <p:cNvPr id="14" name="Text 11"/>
          <p:cNvSpPr txBox="1"/>
          <p:nvPr/>
        </p:nvSpPr>
        <p:spPr>
          <a:xfrm>
            <a:off x="7863840" y="3319272"/>
            <a:ext cx="2743200" cy="256032"/>
          </a:xfrm>
          <a:prstGeom prst="rect">
            <a:avLst/>
          </a:prstGeom>
          <a:noFill/>
          <a:ln/>
        </p:spPr>
        <p:txBody>
          <a:bodyPr wrap="square" lIns="0" tIns="0" rIns="0" bIns="0" rtlCol="0" anchor="ctr"/>
          <a:lstStyle/>
          <a:p>
            <a:pPr indent="0" marL="0">
              <a:buNone/>
            </a:pPr>
            <a:r>
              <a:rPr lang="en-US" sz="1100" dirty="0">
                <a:solidFill>
                  <a:srgbClr val="8894AC"/>
                </a:solidFill>
                <a:latin typeface="Calibri" pitchFamily="34" charset="0"/>
                <a:ea typeface="Calibri" pitchFamily="34" charset="-122"/>
                <a:cs typeface="Calibri" pitchFamily="34" charset="-120"/>
              </a:rPr>
              <a:t>p &lt; 1e-10</a:t>
            </a:r>
            <a:endParaRPr lang="en-US" sz="1100" dirty="0"/>
          </a:p>
        </p:txBody>
      </p:sp>
      <p:sp>
        <p:nvSpPr>
          <p:cNvPr id="15" name="Text 12"/>
          <p:cNvSpPr txBox="1"/>
          <p:nvPr/>
        </p:nvSpPr>
        <p:spPr>
          <a:xfrm>
            <a:off x="7863840" y="3758184"/>
            <a:ext cx="18288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vs rule_based</a:t>
            </a:r>
            <a:endParaRPr lang="en-US" sz="1250" dirty="0"/>
          </a:p>
        </p:txBody>
      </p:sp>
      <p:sp>
        <p:nvSpPr>
          <p:cNvPr id="16" name="Text 13"/>
          <p:cNvSpPr txBox="1"/>
          <p:nvPr/>
        </p:nvSpPr>
        <p:spPr>
          <a:xfrm>
            <a:off x="9692640" y="3758184"/>
            <a:ext cx="914400" cy="274320"/>
          </a:xfrm>
          <a:prstGeom prst="rect">
            <a:avLst/>
          </a:prstGeom>
          <a:noFill/>
          <a:ln/>
        </p:spPr>
        <p:txBody>
          <a:bodyPr wrap="square" lIns="0" tIns="0" rIns="0" bIns="0" rtlCol="0" anchor="ctr"/>
          <a:lstStyle/>
          <a:p>
            <a:pPr algn="r" indent="0" marL="0">
              <a:buNone/>
            </a:pPr>
            <a:r>
              <a:rPr lang="en-US" sz="1250" b="1" dirty="0">
                <a:solidFill>
                  <a:srgbClr val="E8833A"/>
                </a:solidFill>
                <a:latin typeface="Calibri" pitchFamily="34" charset="0"/>
                <a:ea typeface="Calibri" pitchFamily="34" charset="-122"/>
                <a:cs typeface="Calibri" pitchFamily="34" charset="-120"/>
              </a:rPr>
              <a:t>+0.0768</a:t>
            </a:r>
            <a:endParaRPr lang="en-US" sz="1250" dirty="0"/>
          </a:p>
        </p:txBody>
      </p:sp>
      <p:sp>
        <p:nvSpPr>
          <p:cNvPr id="17" name="Text 14"/>
          <p:cNvSpPr txBox="1"/>
          <p:nvPr/>
        </p:nvSpPr>
        <p:spPr>
          <a:xfrm>
            <a:off x="7863840" y="4032504"/>
            <a:ext cx="2743200" cy="256032"/>
          </a:xfrm>
          <a:prstGeom prst="rect">
            <a:avLst/>
          </a:prstGeom>
          <a:noFill/>
          <a:ln/>
        </p:spPr>
        <p:txBody>
          <a:bodyPr wrap="square" lIns="0" tIns="0" rIns="0" bIns="0" rtlCol="0" anchor="ctr"/>
          <a:lstStyle/>
          <a:p>
            <a:pPr indent="0" marL="0">
              <a:buNone/>
            </a:pPr>
            <a:r>
              <a:rPr lang="en-US" sz="1100" dirty="0">
                <a:solidFill>
                  <a:srgbClr val="8894AC"/>
                </a:solidFill>
                <a:latin typeface="Calibri" pitchFamily="34" charset="0"/>
                <a:ea typeface="Calibri" pitchFamily="34" charset="-122"/>
                <a:cs typeface="Calibri" pitchFamily="34" charset="-120"/>
              </a:rPr>
              <a:t>p &lt; 1e-11</a:t>
            </a:r>
            <a:endParaRPr lang="en-US" sz="1100" dirty="0"/>
          </a:p>
        </p:txBody>
      </p:sp>
      <p:sp>
        <p:nvSpPr>
          <p:cNvPr id="18" name="Text 15"/>
          <p:cNvSpPr txBox="1"/>
          <p:nvPr/>
        </p:nvSpPr>
        <p:spPr>
          <a:xfrm>
            <a:off x="7863840" y="4617720"/>
            <a:ext cx="3474720" cy="1051560"/>
          </a:xfrm>
          <a:prstGeom prst="rect">
            <a:avLst/>
          </a:prstGeom>
          <a:noFill/>
          <a:ln/>
        </p:spPr>
        <p:txBody>
          <a:bodyPr wrap="square" lIns="0" tIns="0" rIns="0" bIns="0" rtlCol="0" anchor="ctr"/>
          <a:lstStyle/>
          <a:p>
            <a:pPr indent="0" marL="0">
              <a:lnSpc>
                <a:spcPts val="1600"/>
              </a:lnSpc>
              <a:buNone/>
            </a:pPr>
            <a:r>
              <a:rPr lang="en-US" sz="1150" dirty="0">
                <a:solidFill>
                  <a:srgbClr val="C9D2E3"/>
                </a:solidFill>
                <a:latin typeface="Calibri" pitchFamily="34" charset="0"/>
                <a:ea typeface="Calibri" pitchFamily="34" charset="-122"/>
                <a:cs typeface="Calibri" pitchFamily="34" charset="-120"/>
              </a:rPr>
              <a:t>The fusion arm was starving its own backbone: with the clinical branch zeroed it scored 0.864 where the image-only arm scored 0.956. Modality dropout restored it to 0.952.</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34"/>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it does, and what it does not</a:t>
            </a:r>
            <a:endParaRPr lang="en-US" sz="3200" dirty="0"/>
          </a:p>
        </p:txBody>
      </p:sp>
      <p:sp>
        <p:nvSpPr>
          <p:cNvPr id="3" name="Text 1"/>
          <p:cNvSpPr txBox="1"/>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E8833A"/>
                </a:solidFill>
                <a:latin typeface="Calibri" pitchFamily="34" charset="0"/>
                <a:ea typeface="Calibri" pitchFamily="34" charset="-122"/>
                <a:cs typeface="Calibri" pitchFamily="34" charset="-120"/>
              </a:rPr>
              <a:t>Stated because a screening tool that hides its failure modes cannot be safely deployed</a:t>
            </a:r>
            <a:endParaRPr lang="en-US" sz="1400" dirty="0"/>
          </a:p>
        </p:txBody>
      </p:sp>
      <p:sp>
        <p:nvSpPr>
          <p:cNvPr id="4" name="Shape 2"/>
          <p:cNvSpPr/>
          <p:nvPr/>
        </p:nvSpPr>
        <p:spPr>
          <a:xfrm>
            <a:off x="548640" y="1645920"/>
            <a:ext cx="5440680" cy="4206240"/>
          </a:xfrm>
          <a:prstGeom prst="roundRect">
            <a:avLst>
              <a:gd name="adj" fmla="val 1304"/>
            </a:avLst>
          </a:prstGeom>
          <a:solidFill>
            <a:srgbClr val="16321F"/>
          </a:solidFill>
          <a:ln/>
        </p:spPr>
      </p:sp>
      <p:sp>
        <p:nvSpPr>
          <p:cNvPr id="5" name="Text 3"/>
          <p:cNvSpPr txBox="1"/>
          <p:nvPr/>
        </p:nvSpPr>
        <p:spPr>
          <a:xfrm>
            <a:off x="868680" y="1874520"/>
            <a:ext cx="4754880" cy="274320"/>
          </a:xfrm>
          <a:prstGeom prst="rect">
            <a:avLst/>
          </a:prstGeom>
          <a:noFill/>
          <a:ln/>
        </p:spPr>
        <p:txBody>
          <a:bodyPr wrap="square" lIns="0" tIns="0" rIns="0" bIns="0" rtlCol="0" anchor="ctr"/>
          <a:lstStyle/>
          <a:p>
            <a:pPr indent="0" marL="0">
              <a:buNone/>
            </a:pPr>
            <a:r>
              <a:rPr lang="en-US" sz="1100" b="1" spc="100" kern="0" dirty="0">
                <a:solidFill>
                  <a:srgbClr val="5FD08A"/>
                </a:solidFill>
                <a:latin typeface="Calibri" pitchFamily="34" charset="0"/>
                <a:ea typeface="Calibri" pitchFamily="34" charset="-122"/>
                <a:cs typeface="Calibri" pitchFamily="34" charset="-120"/>
              </a:rPr>
              <a:t>VALIDATED</a:t>
            </a:r>
            <a:endParaRPr lang="en-US" sz="1100" dirty="0"/>
          </a:p>
        </p:txBody>
      </p:sp>
      <p:sp>
        <p:nvSpPr>
          <p:cNvPr id="6" name="Text 4"/>
          <p:cNvSpPr txBox="1"/>
          <p:nvPr/>
        </p:nvSpPr>
        <p:spPr>
          <a:xfrm>
            <a:off x="868680" y="2286000"/>
            <a:ext cx="4800600" cy="777240"/>
          </a:xfrm>
          <a:prstGeom prst="rect">
            <a:avLst/>
          </a:prstGeom>
          <a:noFill/>
          <a:ln/>
        </p:spPr>
        <p:txBody>
          <a:bodyPr wrap="square" lIns="0" tIns="0" rIns="0" bIns="0" rtlCol="0" anchor="ctr"/>
          <a:lstStyle/>
          <a:p>
            <a:pPr marL="342900" indent="-342900">
              <a:lnSpc>
                <a:spcPts val="1800"/>
              </a:lnSpc>
              <a:buSzPct val="100000"/>
              <a:buChar char="✓"/>
            </a:pPr>
            <a:r>
              <a:rPr lang="en-US" sz="1300" dirty="0">
                <a:solidFill>
                  <a:srgbClr val="FFFFFF"/>
                </a:solidFill>
                <a:latin typeface="Calibri" pitchFamily="34" charset="0"/>
                <a:ea typeface="Calibri" pitchFamily="34" charset="-122"/>
                <a:cs typeface="Calibri" pitchFamily="34" charset="-120"/>
              </a:rPr>
              <a:t>97.3% of blinding disease caught on unseen hardware</a:t>
            </a:r>
            <a:endParaRPr lang="en-US" sz="1300" dirty="0"/>
          </a:p>
        </p:txBody>
      </p:sp>
      <p:sp>
        <p:nvSpPr>
          <p:cNvPr id="7" name="Text 5"/>
          <p:cNvSpPr txBox="1"/>
          <p:nvPr/>
        </p:nvSpPr>
        <p:spPr>
          <a:xfrm>
            <a:off x="868680" y="3154680"/>
            <a:ext cx="4800600" cy="777240"/>
          </a:xfrm>
          <a:prstGeom prst="rect">
            <a:avLst/>
          </a:prstGeom>
          <a:noFill/>
          <a:ln/>
        </p:spPr>
        <p:txBody>
          <a:bodyPr wrap="square" lIns="0" tIns="0" rIns="0" bIns="0" rtlCol="0" anchor="ctr"/>
          <a:lstStyle/>
          <a:p>
            <a:pPr marL="342900" indent="-342900">
              <a:lnSpc>
                <a:spcPts val="1800"/>
              </a:lnSpc>
              <a:buSzPct val="100000"/>
              <a:buChar char="✓"/>
            </a:pPr>
            <a:r>
              <a:rPr lang="en-US" sz="1300" dirty="0">
                <a:solidFill>
                  <a:srgbClr val="FFFFFF"/>
                </a:solidFill>
                <a:latin typeface="Calibri" pitchFamily="34" charset="0"/>
                <a:ea typeface="Calibri" pitchFamily="34" charset="-122"/>
                <a:cs typeface="Calibri" pitchFamily="34" charset="-120"/>
              </a:rPr>
              <a:t>Both problem-statement targets met internally</a:t>
            </a:r>
            <a:endParaRPr lang="en-US" sz="1300" dirty="0"/>
          </a:p>
        </p:txBody>
      </p:sp>
      <p:sp>
        <p:nvSpPr>
          <p:cNvPr id="8" name="Text 6"/>
          <p:cNvSpPr txBox="1"/>
          <p:nvPr/>
        </p:nvSpPr>
        <p:spPr>
          <a:xfrm>
            <a:off x="868680" y="4023360"/>
            <a:ext cx="4800600" cy="777240"/>
          </a:xfrm>
          <a:prstGeom prst="rect">
            <a:avLst/>
          </a:prstGeom>
          <a:noFill/>
          <a:ln/>
        </p:spPr>
        <p:txBody>
          <a:bodyPr wrap="square" lIns="0" tIns="0" rIns="0" bIns="0" rtlCol="0" anchor="ctr"/>
          <a:lstStyle/>
          <a:p>
            <a:pPr marL="342900" indent="-342900">
              <a:lnSpc>
                <a:spcPts val="1800"/>
              </a:lnSpc>
              <a:buSzPct val="100000"/>
              <a:buChar char="✓"/>
            </a:pPr>
            <a:r>
              <a:rPr lang="en-US" sz="1300" dirty="0">
                <a:solidFill>
                  <a:srgbClr val="FFFFFF"/>
                </a:solidFill>
                <a:latin typeface="Calibri" pitchFamily="34" charset="0"/>
                <a:ea typeface="Calibri" pitchFamily="34" charset="-122"/>
                <a:cs typeface="Calibri" pitchFamily="34" charset="-120"/>
              </a:rPr>
              <a:t>Every decision cut-point fitted, none on test data</a:t>
            </a:r>
            <a:endParaRPr lang="en-US" sz="1300" dirty="0"/>
          </a:p>
        </p:txBody>
      </p:sp>
      <p:sp>
        <p:nvSpPr>
          <p:cNvPr id="9" name="Text 7"/>
          <p:cNvSpPr txBox="1"/>
          <p:nvPr/>
        </p:nvSpPr>
        <p:spPr>
          <a:xfrm>
            <a:off x="868680" y="4892040"/>
            <a:ext cx="4800600" cy="777240"/>
          </a:xfrm>
          <a:prstGeom prst="rect">
            <a:avLst/>
          </a:prstGeom>
          <a:noFill/>
          <a:ln/>
        </p:spPr>
        <p:txBody>
          <a:bodyPr wrap="square" lIns="0" tIns="0" rIns="0" bIns="0" rtlCol="0" anchor="ctr"/>
          <a:lstStyle/>
          <a:p>
            <a:pPr marL="342900" indent="-342900">
              <a:lnSpc>
                <a:spcPts val="1800"/>
              </a:lnSpc>
              <a:buSzPct val="100000"/>
              <a:buChar char="✓"/>
            </a:pPr>
            <a:r>
              <a:rPr lang="en-US" sz="1300" dirty="0">
                <a:solidFill>
                  <a:srgbClr val="FFFFFF"/>
                </a:solidFill>
                <a:latin typeface="Calibri" pitchFamily="34" charset="0"/>
                <a:ea typeface="Calibri" pitchFamily="34" charset="-122"/>
                <a:cs typeface="Calibri" pitchFamily="34" charset="-120"/>
              </a:rPr>
              <a:t>Rule trail and lesion evidence on every referral</a:t>
            </a:r>
            <a:endParaRPr lang="en-US" sz="1300" dirty="0"/>
          </a:p>
        </p:txBody>
      </p:sp>
      <p:sp>
        <p:nvSpPr>
          <p:cNvPr id="10" name="Shape 8"/>
          <p:cNvSpPr/>
          <p:nvPr/>
        </p:nvSpPr>
        <p:spPr>
          <a:xfrm>
            <a:off x="6172200" y="1645920"/>
            <a:ext cx="5440680" cy="4206240"/>
          </a:xfrm>
          <a:prstGeom prst="roundRect">
            <a:avLst>
              <a:gd name="adj" fmla="val 1304"/>
            </a:avLst>
          </a:prstGeom>
          <a:solidFill>
            <a:srgbClr val="3A1E22"/>
          </a:solidFill>
          <a:ln/>
        </p:spPr>
      </p:sp>
      <p:sp>
        <p:nvSpPr>
          <p:cNvPr id="11" name="Text 9"/>
          <p:cNvSpPr txBox="1"/>
          <p:nvPr/>
        </p:nvSpPr>
        <p:spPr>
          <a:xfrm>
            <a:off x="6492240" y="1874520"/>
            <a:ext cx="4754880" cy="274320"/>
          </a:xfrm>
          <a:prstGeom prst="rect">
            <a:avLst/>
          </a:prstGeom>
          <a:noFill/>
          <a:ln/>
        </p:spPr>
        <p:txBody>
          <a:bodyPr wrap="square" lIns="0" tIns="0" rIns="0" bIns="0" rtlCol="0" anchor="ctr"/>
          <a:lstStyle/>
          <a:p>
            <a:pPr indent="0" marL="0">
              <a:buNone/>
            </a:pPr>
            <a:r>
              <a:rPr lang="en-US" sz="1100" b="1" spc="100" kern="0" dirty="0">
                <a:solidFill>
                  <a:srgbClr val="F09A9A"/>
                </a:solidFill>
                <a:latin typeface="Calibri" pitchFamily="34" charset="0"/>
                <a:ea typeface="Calibri" pitchFamily="34" charset="-122"/>
                <a:cs typeface="Calibri" pitchFamily="34" charset="-120"/>
              </a:rPr>
              <a:t>STANDING LIMITATIONS</a:t>
            </a:r>
            <a:endParaRPr lang="en-US" sz="1100" dirty="0"/>
          </a:p>
        </p:txBody>
      </p:sp>
      <p:sp>
        <p:nvSpPr>
          <p:cNvPr id="12" name="Text 10"/>
          <p:cNvSpPr txBox="1"/>
          <p:nvPr/>
        </p:nvSpPr>
        <p:spPr>
          <a:xfrm>
            <a:off x="6492240" y="2286000"/>
            <a:ext cx="4800600" cy="777240"/>
          </a:xfrm>
          <a:prstGeom prst="rect">
            <a:avLst/>
          </a:prstGeom>
          <a:noFill/>
          <a:ln/>
        </p:spPr>
        <p:txBody>
          <a:bodyPr wrap="square" lIns="0" tIns="0" rIns="0" bIns="0" rtlCol="0" anchor="ctr"/>
          <a:lstStyle/>
          <a:p>
            <a:pPr marL="342900" indent="-342900">
              <a:lnSpc>
                <a:spcPts val="1700"/>
              </a:lnSpc>
              <a:buSzPct val="100000"/>
              <a:buChar char="•"/>
            </a:pPr>
            <a:r>
              <a:rPr lang="en-US" sz="1250" dirty="0">
                <a:solidFill>
                  <a:srgbClr val="E8DCDC"/>
                </a:solidFill>
                <a:latin typeface="Calibri" pitchFamily="34" charset="0"/>
                <a:ea typeface="Calibri" pitchFamily="34" charset="-122"/>
                <a:cs typeface="Calibri" pitchFamily="34" charset="-120"/>
              </a:rPr>
              <a:t>Printed ICDR grade is far less reliable than the referral flag — 0.333 exact on severe NPDR externally</a:t>
            </a:r>
            <a:endParaRPr lang="en-US" sz="1250" dirty="0"/>
          </a:p>
        </p:txBody>
      </p:sp>
      <p:sp>
        <p:nvSpPr>
          <p:cNvPr id="13" name="Text 11"/>
          <p:cNvSpPr txBox="1"/>
          <p:nvPr/>
        </p:nvSpPr>
        <p:spPr>
          <a:xfrm>
            <a:off x="6492240" y="3154680"/>
            <a:ext cx="4800600" cy="777240"/>
          </a:xfrm>
          <a:prstGeom prst="rect">
            <a:avLst/>
          </a:prstGeom>
          <a:noFill/>
          <a:ln/>
        </p:spPr>
        <p:txBody>
          <a:bodyPr wrap="square" lIns="0" tIns="0" rIns="0" bIns="0" rtlCol="0" anchor="ctr"/>
          <a:lstStyle/>
          <a:p>
            <a:pPr marL="342900" indent="-342900">
              <a:lnSpc>
                <a:spcPts val="1700"/>
              </a:lnSpc>
              <a:buSzPct val="100000"/>
              <a:buChar char="•"/>
            </a:pPr>
            <a:r>
              <a:rPr lang="en-US" sz="1250" dirty="0">
                <a:solidFill>
                  <a:srgbClr val="E8DCDC"/>
                </a:solidFill>
                <a:latin typeface="Calibri" pitchFamily="34" charset="0"/>
                <a:ea typeface="Calibri" pitchFamily="34" charset="-122"/>
                <a:cs typeface="Calibri" pitchFamily="34" charset="-120"/>
              </a:rPr>
              <a:t>Neovascularisation cannot be detected; PDR is never excluded on lesion evidence</a:t>
            </a:r>
            <a:endParaRPr lang="en-US" sz="1250" dirty="0"/>
          </a:p>
        </p:txBody>
      </p:sp>
      <p:sp>
        <p:nvSpPr>
          <p:cNvPr id="14" name="Text 12"/>
          <p:cNvSpPr txBox="1"/>
          <p:nvPr/>
        </p:nvSpPr>
        <p:spPr>
          <a:xfrm>
            <a:off x="6492240" y="4023360"/>
            <a:ext cx="4800600" cy="777240"/>
          </a:xfrm>
          <a:prstGeom prst="rect">
            <a:avLst/>
          </a:prstGeom>
          <a:noFill/>
          <a:ln/>
        </p:spPr>
        <p:txBody>
          <a:bodyPr wrap="square" lIns="0" tIns="0" rIns="0" bIns="0" rtlCol="0" anchor="ctr"/>
          <a:lstStyle/>
          <a:p>
            <a:pPr marL="342900" indent="-342900">
              <a:lnSpc>
                <a:spcPts val="1700"/>
              </a:lnSpc>
              <a:buSzPct val="100000"/>
              <a:buChar char="•"/>
            </a:pPr>
            <a:r>
              <a:rPr lang="en-US" sz="1250" dirty="0">
                <a:solidFill>
                  <a:srgbClr val="E8DCDC"/>
                </a:solidFill>
                <a:latin typeface="Calibri" pitchFamily="34" charset="0"/>
                <a:ea typeface="Calibri" pitchFamily="34" charset="-122"/>
                <a:cs typeface="Calibri" pitchFamily="34" charset="-120"/>
              </a:rPr>
              <a:t>Moderate NPDR at 62.3% externally — reference standards disagree</a:t>
            </a:r>
            <a:endParaRPr lang="en-US" sz="1250" dirty="0"/>
          </a:p>
        </p:txBody>
      </p:sp>
      <p:sp>
        <p:nvSpPr>
          <p:cNvPr id="15" name="Text 13"/>
          <p:cNvSpPr txBox="1"/>
          <p:nvPr/>
        </p:nvSpPr>
        <p:spPr>
          <a:xfrm>
            <a:off x="6492240" y="4892040"/>
            <a:ext cx="4800600" cy="777240"/>
          </a:xfrm>
          <a:prstGeom prst="rect">
            <a:avLst/>
          </a:prstGeom>
          <a:noFill/>
          <a:ln/>
        </p:spPr>
        <p:txBody>
          <a:bodyPr wrap="square" lIns="0" tIns="0" rIns="0" bIns="0" rtlCol="0" anchor="ctr"/>
          <a:lstStyle/>
          <a:p>
            <a:pPr marL="342900" indent="-342900">
              <a:lnSpc>
                <a:spcPts val="1700"/>
              </a:lnSpc>
              <a:buSzPct val="100000"/>
              <a:buChar char="•"/>
            </a:pPr>
            <a:r>
              <a:rPr lang="en-US" sz="1250" dirty="0">
                <a:solidFill>
                  <a:srgbClr val="E8DCDC"/>
                </a:solidFill>
                <a:latin typeface="Calibri" pitchFamily="34" charset="0"/>
                <a:ea typeface="Calibri" pitchFamily="34" charset="-122"/>
                <a:cs typeface="Calibri" pitchFamily="34" charset="-120"/>
              </a:rPr>
              <a:t>No African, East Asian or Latin American validation</a:t>
            </a:r>
            <a:endParaRPr lang="en-US" sz="1250" dirty="0"/>
          </a:p>
        </p:txBody>
      </p:sp>
      <p:sp>
        <p:nvSpPr>
          <p:cNvPr id="16" name="Text 14"/>
          <p:cNvSpPr txBox="1"/>
          <p:nvPr/>
        </p:nvSpPr>
        <p:spPr>
          <a:xfrm>
            <a:off x="548640" y="6144768"/>
            <a:ext cx="11064240" cy="457200"/>
          </a:xfrm>
          <a:prstGeom prst="rect">
            <a:avLst/>
          </a:prstGeom>
          <a:noFill/>
          <a:ln/>
        </p:spPr>
        <p:txBody>
          <a:bodyPr wrap="square" lIns="0" tIns="0" rIns="0" bIns="0" rtlCol="0" anchor="ctr"/>
          <a:lstStyle/>
          <a:p>
            <a:pPr algn="ctr" indent="0" marL="0">
              <a:buNone/>
            </a:pPr>
            <a:r>
              <a:rPr lang="en-US" sz="1250" i="1" dirty="0">
                <a:solidFill>
                  <a:srgbClr val="E8833A"/>
                </a:solidFill>
                <a:latin typeface="Calibri" pitchFamily="34" charset="0"/>
                <a:ea typeface="Calibri" pitchFamily="34" charset="-122"/>
                <a:cs typeface="Calibri" pitchFamily="34" charset="-120"/>
              </a:rPr>
              <a:t>Decision-support output. Not a diagnosis. Every referable and sight-threatening finding is reviewed by a qualified ophthalmologist before clinical action.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Screening — Technical Specification</dc:title>
  <dc:subject>PptxGenJS Presentation</dc:subject>
  <dc:creator>SIH-26038</dc:creator>
  <cp:lastModifiedBy>SIH-26038</cp:lastModifiedBy>
  <cp:revision>1</cp:revision>
  <dcterms:created xsi:type="dcterms:W3CDTF">2026-09-04T11:00:54Z</dcterms:created>
  <dcterms:modified xsi:type="dcterms:W3CDTF">2026-09-04T11:00:54Z</dcterms:modified>
</cp:coreProperties>
</file>