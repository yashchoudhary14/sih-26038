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Deployed: image-only ordinal CNN (EfficientNet-B0 + CORN head) at 512px, plus an Attention U-Net at 1024px supplying lesion evidence and the classical ICDR rule trail. Trained on APTOS 2019 + IDRiD (2,925 images). Messidor-2 (1,744) is held out entirely — no training, no threshold selection, no calibration — so every external number is zero-shot. Every decision cut-point is fitted on the validation split. The referral flag is the validated output; the printed ICDR grade is materially less reliable and is presented as triage context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18872"/>
            <a:ext cx="11832336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C9D0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37744"/>
            <a:ext cx="1481328" cy="566928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 w="19050">
            <a:solidFill>
              <a:srgbClr val="141B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3774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SIH-26038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2011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F7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9464040" y="20116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41148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62179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2688" y="1024128"/>
            <a:ext cx="585216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B3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 rot="16200000">
            <a:off x="-96012" y="1481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43584"/>
            <a:ext cx="5614416" cy="73060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32688" y="2322576"/>
            <a:ext cx="2834640" cy="1901952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C9D0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9848" y="2441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GRADER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69848" y="2724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3-plane input at 512² — CLAHE-green, Ben-Graham, L*.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69848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logits model </a:t>
            </a:r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P(y&gt;k | y&gt;k−1)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69848" y="3456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product ⇒ </a:t>
            </a:r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by construction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69848" y="3822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sqrt-stratified sampler lifts grades 3–4 to 27% per batch.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50208" y="2322576"/>
            <a:ext cx="2834640" cy="1901952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C9D0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87368" y="2441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FEATURES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087368" y="2724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 4.43 M, deep supervision, focal Tversky (β&gt;α).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087368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Dice </a:t>
            </a:r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@512 → 0.481 @1024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087368" y="3456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channels excluded; NV reads "not assessed".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087368" y="3822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39-dim vector: quadrant counts, beading, fovea distance.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32688" y="4334256"/>
            <a:ext cx="5852160" cy="1847088"/>
          </a:xfrm>
          <a:prstGeom prst="rect">
            <a:avLst/>
          </a:prstGeom>
          <a:solidFill>
            <a:srgbClr val="FFFFFF"/>
          </a:solidFill>
          <a:ln w="15875">
            <a:solidFill>
              <a:srgbClr val="141B34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 rot="16200000">
            <a:off x="-96012" y="5120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LADDER</a:t>
            </a:r>
            <a:endParaRPr lang="en-US" sz="10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480560"/>
            <a:ext cx="5614416" cy="151790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51776" y="1024128"/>
            <a:ext cx="2194560" cy="2798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41B34"/>
            </a:solidFill>
            <a:prstDash val="dash"/>
          </a:ln>
        </p:spPr>
      </p:sp>
      <p:sp>
        <p:nvSpPr>
          <p:cNvPr id="28" name="Text 24"/>
          <p:cNvSpPr txBox="1"/>
          <p:nvPr/>
        </p:nvSpPr>
        <p:spPr>
          <a:xfrm rot="16200000">
            <a:off x="6341364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HEAD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1152144"/>
            <a:ext cx="1956816" cy="199247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470648" y="321868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5-way softmax has no ordering — nothing stops P(grade 4) exceeding P(grade 2).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7351776" y="3950208"/>
            <a:ext cx="2194560" cy="2231136"/>
          </a:xfrm>
          <a:prstGeom prst="roundRect">
            <a:avLst>
              <a:gd name="adj" fmla="val 2083"/>
            </a:avLst>
          </a:prstGeom>
          <a:solidFill>
            <a:srgbClr val="141B34"/>
          </a:solidFill>
          <a:ln w="12700">
            <a:solidFill>
              <a:srgbClr val="C9D0D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488936" y="40599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CUT-POINT FITTED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7488936" y="435254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8092440" y="435254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0.1999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8988552" y="43525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P(y≥2)</a:t>
            </a:r>
            <a:endParaRPr lang="en-US" sz="750" dirty="0"/>
          </a:p>
        </p:txBody>
      </p:sp>
      <p:sp>
        <p:nvSpPr>
          <p:cNvPr id="36" name="Text 31"/>
          <p:cNvSpPr txBox="1"/>
          <p:nvPr/>
        </p:nvSpPr>
        <p:spPr>
          <a:xfrm>
            <a:off x="7488936" y="462686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8092440" y="46268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0.1184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8988552" y="46268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P(y≥3)</a:t>
            </a:r>
            <a:endParaRPr lang="en-US" sz="750" dirty="0"/>
          </a:p>
        </p:txBody>
      </p:sp>
      <p:sp>
        <p:nvSpPr>
          <p:cNvPr id="39" name="Text 34"/>
          <p:cNvSpPr txBox="1"/>
          <p:nvPr/>
        </p:nvSpPr>
        <p:spPr>
          <a:xfrm>
            <a:off x="7488936" y="490118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8092440" y="490118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.30/.39/.39/.36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8988552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750" dirty="0"/>
          </a:p>
        </p:txBody>
      </p:sp>
      <p:sp>
        <p:nvSpPr>
          <p:cNvPr id="42" name="Text 37"/>
          <p:cNvSpPr txBox="1"/>
          <p:nvPr/>
        </p:nvSpPr>
        <p:spPr>
          <a:xfrm>
            <a:off x="7488936" y="517550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8092440" y="517550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– 0.95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8988552" y="5175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750" dirty="0"/>
          </a:p>
        </p:txBody>
      </p:sp>
      <p:sp>
        <p:nvSpPr>
          <p:cNvPr id="45" name="Text 40"/>
          <p:cNvSpPr txBox="1"/>
          <p:nvPr/>
        </p:nvSpPr>
        <p:spPr>
          <a:xfrm>
            <a:off x="7488936" y="544982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8092440" y="544982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2.708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8988552" y="54498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</a:t>
            </a:r>
            <a:endParaRPr lang="en-US" sz="750" dirty="0"/>
          </a:p>
        </p:txBody>
      </p:sp>
      <p:sp>
        <p:nvSpPr>
          <p:cNvPr id="48" name="Text 43"/>
          <p:cNvSpPr txBox="1"/>
          <p:nvPr/>
        </p:nvSpPr>
        <p:spPr>
          <a:xfrm>
            <a:off x="7488936" y="5760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8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the validation split — never on test or Messidor-2.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9674352" y="1024128"/>
            <a:ext cx="2231136" cy="5157216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C9D0DE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9811512" y="11338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9811512" y="1408176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9811512" y="157276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· 4.34 M</a:t>
            </a:r>
            <a:endParaRPr lang="en-US" sz="850" dirty="0"/>
          </a:p>
        </p:txBody>
      </p:sp>
      <p:sp>
        <p:nvSpPr>
          <p:cNvPr id="53" name="Text 48"/>
          <p:cNvSpPr txBox="1"/>
          <p:nvPr/>
        </p:nvSpPr>
        <p:spPr>
          <a:xfrm>
            <a:off x="9811512" y="1792224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</a:t>
            </a:r>
            <a:endParaRPr lang="en-US" sz="900" dirty="0"/>
          </a:p>
        </p:txBody>
      </p:sp>
      <p:sp>
        <p:nvSpPr>
          <p:cNvPr id="54" name="Text 49"/>
          <p:cNvSpPr txBox="1"/>
          <p:nvPr/>
        </p:nvSpPr>
        <p:spPr>
          <a:xfrm>
            <a:off x="9811512" y="195681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 · 4.43 M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9811512" y="2176272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56" name="Text 51"/>
          <p:cNvSpPr txBox="1"/>
          <p:nvPr/>
        </p:nvSpPr>
        <p:spPr>
          <a:xfrm>
            <a:off x="9811512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2,925 · APTOS + IDRiD</a:t>
            </a:r>
            <a:endParaRPr lang="en-US" sz="850" dirty="0"/>
          </a:p>
        </p:txBody>
      </p:sp>
      <p:sp>
        <p:nvSpPr>
          <p:cNvPr id="57" name="Text 52"/>
          <p:cNvSpPr txBox="1"/>
          <p:nvPr/>
        </p:nvSpPr>
        <p:spPr>
          <a:xfrm>
            <a:off x="9811512" y="256032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900" dirty="0"/>
          </a:p>
        </p:txBody>
      </p:sp>
      <p:sp>
        <p:nvSpPr>
          <p:cNvPr id="58" name="Text 53"/>
          <p:cNvSpPr txBox="1"/>
          <p:nvPr/>
        </p:nvSpPr>
        <p:spPr>
          <a:xfrm>
            <a:off x="9811512" y="272491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subject-grouped, zero overlap</a:t>
            </a:r>
            <a:endParaRPr lang="en-US" sz="850" dirty="0"/>
          </a:p>
        </p:txBody>
      </p:sp>
      <p:sp>
        <p:nvSpPr>
          <p:cNvPr id="59" name="Text 54"/>
          <p:cNvSpPr txBox="1"/>
          <p:nvPr/>
        </p:nvSpPr>
        <p:spPr>
          <a:xfrm>
            <a:off x="9811512" y="2944368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</p:txBody>
      </p:sp>
      <p:sp>
        <p:nvSpPr>
          <p:cNvPr id="60" name="Text 55"/>
          <p:cNvSpPr txBox="1"/>
          <p:nvPr/>
        </p:nvSpPr>
        <p:spPr>
          <a:xfrm>
            <a:off x="9811512" y="310896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Messidor-2 · 1,744 held out</a:t>
            </a:r>
            <a:endParaRPr lang="en-US" sz="850" dirty="0"/>
          </a:p>
        </p:txBody>
      </p:sp>
      <p:sp>
        <p:nvSpPr>
          <p:cNvPr id="61" name="Shape 56"/>
          <p:cNvSpPr/>
          <p:nvPr/>
        </p:nvSpPr>
        <p:spPr>
          <a:xfrm>
            <a:off x="9811512" y="3401568"/>
            <a:ext cx="1956816" cy="0"/>
          </a:xfrm>
          <a:prstGeom prst="line">
            <a:avLst/>
          </a:prstGeom>
          <a:noFill/>
          <a:ln w="12700">
            <a:solidFill>
              <a:srgbClr val="C9D0DE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9811512" y="347472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— ZERO-SHOT</a:t>
            </a:r>
            <a:endParaRPr lang="en-US" sz="900" dirty="0"/>
          </a:p>
        </p:txBody>
      </p:sp>
      <p:sp>
        <p:nvSpPr>
          <p:cNvPr id="63" name="Text 58"/>
          <p:cNvSpPr txBox="1"/>
          <p:nvPr/>
        </p:nvSpPr>
        <p:spPr>
          <a:xfrm>
            <a:off x="9811512" y="371246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97.3%</a:t>
            </a:r>
            <a:endParaRPr lang="en-US" sz="2400" dirty="0"/>
          </a:p>
        </p:txBody>
      </p:sp>
      <p:sp>
        <p:nvSpPr>
          <p:cNvPr id="64" name="Text 59"/>
          <p:cNvSpPr txBox="1"/>
          <p:nvPr/>
        </p:nvSpPr>
        <p:spPr>
          <a:xfrm>
            <a:off x="10844784" y="37490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sight-threatening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/ 110 caught</a:t>
            </a:r>
            <a:endParaRPr lang="en-US" sz="800" dirty="0"/>
          </a:p>
        </p:txBody>
      </p:sp>
      <p:sp>
        <p:nvSpPr>
          <p:cNvPr id="65" name="Text 60"/>
          <p:cNvSpPr txBox="1"/>
          <p:nvPr/>
        </p:nvSpPr>
        <p:spPr>
          <a:xfrm>
            <a:off x="9811512" y="42062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sight-threat</a:t>
            </a:r>
            <a:endParaRPr lang="en-US" sz="850" dirty="0"/>
          </a:p>
        </p:txBody>
      </p:sp>
      <p:sp>
        <p:nvSpPr>
          <p:cNvPr id="66" name="Text 61"/>
          <p:cNvSpPr txBox="1"/>
          <p:nvPr/>
        </p:nvSpPr>
        <p:spPr>
          <a:xfrm>
            <a:off x="11137392" y="4206240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/ 105</a:t>
            </a:r>
            <a:endParaRPr lang="en-US" sz="850" dirty="0"/>
          </a:p>
        </p:txBody>
      </p:sp>
      <p:sp>
        <p:nvSpPr>
          <p:cNvPr id="67" name="Text 62"/>
          <p:cNvSpPr txBox="1"/>
          <p:nvPr/>
        </p:nvSpPr>
        <p:spPr>
          <a:xfrm>
            <a:off x="9811512" y="44211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Referable sens</a:t>
            </a:r>
            <a:endParaRPr lang="en-US" sz="850" dirty="0"/>
          </a:p>
        </p:txBody>
      </p:sp>
      <p:sp>
        <p:nvSpPr>
          <p:cNvPr id="68" name="Text 63"/>
          <p:cNvSpPr txBox="1"/>
          <p:nvPr/>
        </p:nvSpPr>
        <p:spPr>
          <a:xfrm>
            <a:off x="11137392" y="4421124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850" dirty="0"/>
          </a:p>
        </p:txBody>
      </p:sp>
      <p:sp>
        <p:nvSpPr>
          <p:cNvPr id="69" name="Text 64"/>
          <p:cNvSpPr txBox="1"/>
          <p:nvPr/>
        </p:nvSpPr>
        <p:spPr>
          <a:xfrm>
            <a:off x="9811512" y="46360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Referable spec</a:t>
            </a:r>
            <a:endParaRPr lang="en-US" sz="850" dirty="0"/>
          </a:p>
        </p:txBody>
      </p:sp>
      <p:sp>
        <p:nvSpPr>
          <p:cNvPr id="70" name="Text 65"/>
          <p:cNvSpPr txBox="1"/>
          <p:nvPr/>
        </p:nvSpPr>
        <p:spPr>
          <a:xfrm>
            <a:off x="11137392" y="4636008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</a:t>
            </a:r>
            <a:endParaRPr lang="en-US" sz="850" dirty="0"/>
          </a:p>
        </p:txBody>
      </p:sp>
      <p:sp>
        <p:nvSpPr>
          <p:cNvPr id="71" name="Text 66"/>
          <p:cNvSpPr txBox="1"/>
          <p:nvPr/>
        </p:nvSpPr>
        <p:spPr>
          <a:xfrm>
            <a:off x="9811512" y="48508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internal</a:t>
            </a:r>
            <a:endParaRPr lang="en-US" sz="850" dirty="0"/>
          </a:p>
        </p:txBody>
      </p:sp>
      <p:sp>
        <p:nvSpPr>
          <p:cNvPr id="72" name="Text 67"/>
          <p:cNvSpPr txBox="1"/>
          <p:nvPr/>
        </p:nvSpPr>
        <p:spPr>
          <a:xfrm>
            <a:off x="11137392" y="4850892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850" dirty="0"/>
          </a:p>
        </p:txBody>
      </p:sp>
      <p:sp>
        <p:nvSpPr>
          <p:cNvPr id="73" name="Text 68"/>
          <p:cNvSpPr txBox="1"/>
          <p:nvPr/>
        </p:nvSpPr>
        <p:spPr>
          <a:xfrm>
            <a:off x="9811512" y="50657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Messidor-2</a:t>
            </a:r>
            <a:endParaRPr lang="en-US" sz="850" dirty="0"/>
          </a:p>
        </p:txBody>
      </p:sp>
      <p:sp>
        <p:nvSpPr>
          <p:cNvPr id="74" name="Text 69"/>
          <p:cNvSpPr txBox="1"/>
          <p:nvPr/>
        </p:nvSpPr>
        <p:spPr>
          <a:xfrm>
            <a:off x="11137392" y="5065776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9811512" y="52806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for review</a:t>
            </a:r>
            <a:endParaRPr lang="en-US" sz="850" dirty="0"/>
          </a:p>
        </p:txBody>
      </p:sp>
      <p:sp>
        <p:nvSpPr>
          <p:cNvPr id="76" name="Text 71"/>
          <p:cNvSpPr txBox="1"/>
          <p:nvPr/>
        </p:nvSpPr>
        <p:spPr>
          <a:xfrm>
            <a:off x="11137392" y="5280660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endParaRPr lang="en-US" sz="850" dirty="0"/>
          </a:p>
        </p:txBody>
      </p:sp>
      <p:sp>
        <p:nvSpPr>
          <p:cNvPr id="77" name="Text 72"/>
          <p:cNvSpPr txBox="1"/>
          <p:nvPr/>
        </p:nvSpPr>
        <p:spPr>
          <a:xfrm>
            <a:off x="9811512" y="54955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grade</a:t>
            </a:r>
            <a:endParaRPr lang="en-US" sz="850" dirty="0"/>
          </a:p>
        </p:txBody>
      </p:sp>
      <p:sp>
        <p:nvSpPr>
          <p:cNvPr id="78" name="Text 73"/>
          <p:cNvSpPr txBox="1"/>
          <p:nvPr/>
        </p:nvSpPr>
        <p:spPr>
          <a:xfrm>
            <a:off x="11137392" y="5495544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9811512" y="5742432"/>
            <a:ext cx="1956816" cy="329184"/>
          </a:xfrm>
          <a:prstGeom prst="roundRect">
            <a:avLst>
              <a:gd name="adj" fmla="val 11111"/>
            </a:avLst>
          </a:prstGeom>
          <a:solidFill>
            <a:srgbClr val="FBEEE4"/>
          </a:solidFill>
          <a:ln/>
        </p:spPr>
      </p:sp>
      <p:sp>
        <p:nvSpPr>
          <p:cNvPr id="80" name="Text 75"/>
          <p:cNvSpPr txBox="1"/>
          <p:nvPr/>
        </p:nvSpPr>
        <p:spPr>
          <a:xfrm>
            <a:off x="9884664" y="57607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4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the referral flag, not the printed grade.</a:t>
            </a:r>
            <a:endParaRPr lang="en-US" sz="800" dirty="0"/>
          </a:p>
        </p:txBody>
      </p:sp>
      <p:sp>
        <p:nvSpPr>
          <p:cNvPr id="81" name="Shape 76"/>
          <p:cNvSpPr/>
          <p:nvPr/>
        </p:nvSpPr>
        <p:spPr>
          <a:xfrm>
            <a:off x="0" y="6327648"/>
            <a:ext cx="12161520" cy="530352"/>
          </a:xfrm>
          <a:prstGeom prst="rect">
            <a:avLst/>
          </a:prstGeom>
          <a:solidFill>
            <a:srgbClr val="1F7FC4"/>
          </a:solidFill>
          <a:ln/>
        </p:spPr>
      </p:sp>
      <p:sp>
        <p:nvSpPr>
          <p:cNvPr id="82" name="Text 77"/>
          <p:cNvSpPr txBox="1"/>
          <p:nvPr/>
        </p:nvSpPr>
        <p:spPr>
          <a:xfrm>
            <a:off x="45720" y="6419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50" dirty="0"/>
          </a:p>
        </p:txBody>
      </p:sp>
      <p:sp>
        <p:nvSpPr>
          <p:cNvPr id="83" name="Text 78"/>
          <p:cNvSpPr txBox="1"/>
          <p:nvPr/>
        </p:nvSpPr>
        <p:spPr>
          <a:xfrm>
            <a:off x="2532888" y="6419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84" name="Text 79"/>
          <p:cNvSpPr txBox="1"/>
          <p:nvPr/>
        </p:nvSpPr>
        <p:spPr>
          <a:xfrm>
            <a:off x="5020056" y="6419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150" dirty="0"/>
          </a:p>
        </p:txBody>
      </p:sp>
      <p:sp>
        <p:nvSpPr>
          <p:cNvPr id="85" name="Text 80"/>
          <p:cNvSpPr txBox="1"/>
          <p:nvPr/>
        </p:nvSpPr>
        <p:spPr>
          <a:xfrm>
            <a:off x="7507224" y="6419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150" dirty="0"/>
          </a:p>
        </p:txBody>
      </p:sp>
      <p:sp>
        <p:nvSpPr>
          <p:cNvPr id="86" name="Text 81"/>
          <p:cNvSpPr txBox="1"/>
          <p:nvPr/>
        </p:nvSpPr>
        <p:spPr>
          <a:xfrm>
            <a:off x="9994392" y="6419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150" dirty="0"/>
          </a:p>
        </p:txBody>
      </p:sp>
      <p:sp>
        <p:nvSpPr>
          <p:cNvPr id="87" name="Shape 82"/>
          <p:cNvSpPr/>
          <p:nvPr/>
        </p:nvSpPr>
        <p:spPr>
          <a:xfrm>
            <a:off x="3653028" y="6263640"/>
            <a:ext cx="137160" cy="137160"/>
          </a:xfrm>
          <a:prstGeom prst="ellipse">
            <a:avLst/>
          </a:prstGeom>
          <a:solidFill>
            <a:srgbClr val="E883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Approach — DR Screening</dc:title>
  <dc:subject>PptxGenJS Presentation</dc:subject>
  <dc:creator>PptxGenJS</dc:creator>
  <cp:lastModifiedBy>PptxGenJS</cp:lastModifiedBy>
  <cp:revision>1</cp:revision>
  <dcterms:created xsi:type="dcterms:W3CDTF">2026-09-05T12:48:54Z</dcterms:created>
  <dcterms:modified xsi:type="dcterms:W3CDTF">2026-09-05T12:48:54Z</dcterms:modified>
</cp:coreProperties>
</file>